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361228B-0900-6B98-C02D-4BCEAE8D18EB}">
          <p14:sldIdLst>
            <p14:sldId id="256"/>
            <p14:sldId id="257"/>
          </p14:sldIdLst>
        </p14:section>
        <p14:section name="Architecture" id="{C6DB71C9-48E8-BE98-7908-09DCDE13698D}">
          <p14:sldIdLst>
            <p14:sldId id="258"/>
            <p14:sldId id="259"/>
          </p14:sldIdLst>
        </p14:section>
        <p14:section name="Engineering" id="{3304A869-5859-6921-6B79-941A12EA2D80}">
          <p14:sldIdLst>
            <p14:sldId id="260"/>
            <p14:sldId id="261"/>
            <p14:sldId id="262"/>
          </p14:sldIdLst>
        </p14:section>
        <p14:section name="Close" id="{0C2469B7-B183-8359-F225-325CCC702915}">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per km</c:v>
                </c:pt>
              </c:strCache>
            </c:strRef>
          </c:tx>
          <c:spPr>
            <a:solidFill>
              <a:srgbClr val="FFB020"/>
            </a:solidFill>
            <a:effectLst/>
          </c:spPr>
          <c:invertIfNegative val="0"/>
          <c:dLbls>
            <c:numFmt formatCode="#,##0" sourceLinked="0"/>
            <c:spPr>
              <a:noFill/>
              <a:ln>
                <a:noFill/>
              </a:ln>
              <a:effectLst/>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Scooter</c:v>
                </c:pt>
                <c:pt idx="1">
                  <c:v>Bike</c:v>
                </c:pt>
                <c:pt idx="2">
                  <c:v>Auto</c:v>
                </c:pt>
                <c:pt idx="3">
                  <c:v>Car</c:v>
                </c:pt>
                <c:pt idx="4">
                  <c:v>6-seat</c:v>
                </c:pt>
                <c:pt idx="5">
                  <c:v>8-seat</c:v>
                </c:pt>
              </c:strCache>
            </c:strRef>
          </c:cat>
          <c:val>
            <c:numRef>
              <c:f>Sheet1!$B$2:$B$7</c:f>
              <c:numCache>
                <c:formatCode>General</c:formatCode>
                <c:ptCount val="6"/>
                <c:pt idx="0">
                  <c:v>10</c:v>
                </c:pt>
                <c:pt idx="1">
                  <c:v>15</c:v>
                </c:pt>
                <c:pt idx="2">
                  <c:v>20</c:v>
                </c:pt>
                <c:pt idx="3">
                  <c:v>25</c:v>
                </c:pt>
                <c:pt idx="4">
                  <c:v>40</c:v>
                </c:pt>
                <c:pt idx="5">
                  <c:v>50</c:v>
                </c:pt>
              </c:numCache>
            </c:numRef>
          </c:val>
          <c:extLst>
            <c:ext xmlns:c16="http://schemas.microsoft.com/office/drawing/2014/chart" uri="{C3380CC4-5D6E-409C-BE32-E72D297353CC}">
              <c16:uniqueId val="{00000000-7EA2-4955-9F3D-2CF655F7359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FFB020"/>
              </a:solidFill>
              <a:ln w="25400" cap="flat">
                <a:solidFill>
                  <a:srgbClr val="0A0A0B"/>
                </a:solidFill>
                <a:prstDash val="solid"/>
                <a:round/>
              </a:ln>
              <a:effectLst/>
            </c:spPr>
            <c:extLst>
              <c:ext xmlns:c16="http://schemas.microsoft.com/office/drawing/2014/chart" uri="{C3380CC4-5D6E-409C-BE32-E72D297353CC}">
                <c16:uniqueId val="{00000001-9400-4000-9913-CF9B5D90B3E8}"/>
              </c:ext>
            </c:extLst>
          </c:dPt>
          <c:dPt>
            <c:idx val="1"/>
            <c:bubble3D val="0"/>
            <c:spPr>
              <a:solidFill>
                <a:srgbClr val="52525B"/>
              </a:solidFill>
              <a:ln w="25400" cap="flat">
                <a:solidFill>
                  <a:srgbClr val="0A0A0B"/>
                </a:solidFill>
                <a:prstDash val="solid"/>
                <a:round/>
              </a:ln>
              <a:effectLst/>
            </c:spPr>
            <c:extLst>
              <c:ext xmlns:c16="http://schemas.microsoft.com/office/drawing/2014/chart" uri="{C3380CC4-5D6E-409C-BE32-E72D297353CC}">
                <c16:uniqueId val="{00000003-9400-4000-9913-CF9B5D90B3E8}"/>
              </c:ext>
            </c:extLst>
          </c:dPt>
          <c:cat>
            <c:strRef>
              <c:f>Sheet1!$A$2:$A$3</c:f>
              <c:strCache>
                <c:ptCount val="2"/>
                <c:pt idx="0">
                  <c:v>Driver</c:v>
                </c:pt>
                <c:pt idx="1">
                  <c:v>Platform</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9400-4000-9913-CF9B5D90B3E8}"/>
            </c:ext>
          </c:extLst>
        </c:ser>
        <c:dLbls>
          <c:showLegendKey val="0"/>
          <c:showVal val="0"/>
          <c:showCatName val="0"/>
          <c:showSerName val="0"/>
          <c:showPercent val="0"/>
          <c:showBubbleSize val="0"/>
          <c:showLeaderLines val="0"/>
        </c:dLbls>
        <c:firstSliceAng val="0"/>
        <c:holeSize val="74"/>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119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idea: RideMesh is a ride-hailing platform built as seven decoupled Spring Boot services that talk through Apache Kafka. Introduce the team: Ritish Kumar, Yog Vasaikar, Sumukh Kanekar.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a classic ride-hailing monolith: tight database coupling, single points of failure, and slow request threads when payments and emails run inline. RideMesh splits the system into seven services, gives four of them their own PostgreSQL database, and coordinates through eight Kafka topics.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Browser traffic from the Thymeleaf UI hits the API Gateway on 8089, which resolves services through Eureka. Each core service owns its database. RideService publishes events to Kafka; UserService, WalletService and NotifyService consume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Saga by choreography: instead of a two-phase commit, RideService emits one ride-ended event. WalletService settles the fare, UserService frees the driver and creates a pending rating, NotifyService sends the receipt. Idempotency checks (ride id in the wallet, eventId in notifications) make retries safe.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Gateway offloading removes JWT parsing from every service. The strategy pattern is used for fare calculation (default and surge), driver matching (nearest and highest rated) and payments (wallet, Razorpay, cash). Idempotency protects against duplicate Kafka deliveries.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OSRM gives true driving distance and the code falls back to Haversine if OSRM is unreachable. PostGIS ST_DWithin and ST_Distance find the nearest available drivers. The OTP is generated with SecureRandom and emailed to the rider. The chart shows the per-km base tariff for each vehicle type; surge pricing doubles it at peak hours.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WalletPaymentStrategy debits the rider for the full fare, credits the driver 70 percent, and keeps 30 percent as platform commission. Every movement is written as an immutable CREDIT or DEBIT transaction. Razorpay handles top-ups through a verified webhook, and cash rides are handled by a separate strategy.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outcomes: a decoupled architecture, edge security, real geospatial intelligence, and a fault-tolerant design with idempotent consumers and fallbacks.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main message: independent services, event-driven coordination, and a platform that keeps working when one part fails. Share the repository link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640080" y="6355080"/>
            <a:ext cx="2743200" cy="274320"/>
          </a:xfrm>
          <a:prstGeom prst="rect">
            <a:avLst/>
          </a:prstGeom>
          <a:noFill/>
          <a:ln/>
        </p:spPr>
        <p:txBody>
          <a:bodyPr wrap="square" lIns="0" tIns="0" rIns="0" bIns="0" rtlCol="0" anchor="ctr"/>
          <a:lstStyle/>
          <a:p>
            <a:pPr marL="0" indent="0">
              <a:buNone/>
            </a:pPr>
            <a:r>
              <a:rPr lang="en-US" sz="1000" kern="0" spc="400" dirty="0">
                <a:solidFill>
                  <a:schemeClr val="bg2"/>
                </a:solidFill>
              </a:rPr>
              <a:t>RIDEMESH</a:t>
            </a:r>
            <a:endParaRPr lang="en-US" sz="1000" dirty="0"/>
          </a:p>
        </p:txBody>
      </p:sp>
      <p:sp>
        <p:nvSpPr>
          <p:cNvPr id="3" name="Text 1"/>
          <p:cNvSpPr>
            <a:spLocks noGrp="1"/>
          </p:cNvSpPr>
          <p:nvPr>
            <p:ph type="title" idx="101" hasCustomPrompt="1"/>
          </p:nvPr>
        </p:nvSpPr>
        <p:spPr>
          <a:xfrm>
            <a:off x="640080" y="457200"/>
            <a:ext cx="10881360"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it 1"/>
          <p:cNvSpPr/>
          <p:nvPr/>
        </p:nvSpPr>
        <p:spPr>
          <a:xfrm>
            <a:off x="6583680" y="868680"/>
            <a:ext cx="5120640" cy="5120640"/>
          </a:xfrm>
          <a:prstGeom prst="ellipse">
            <a:avLst/>
          </a:prstGeom>
          <a:solidFill>
            <a:schemeClr val="tx1">
              <a:alpha val="0"/>
            </a:schemeClr>
          </a:solidFill>
          <a:ln w="12700">
            <a:solidFill>
              <a:schemeClr val="accent3"/>
            </a:solidFill>
            <a:prstDash val="solid"/>
          </a:ln>
        </p:spPr>
      </p:sp>
      <p:sp>
        <p:nvSpPr>
          <p:cNvPr id="3" name="Orbit 2"/>
          <p:cNvSpPr/>
          <p:nvPr/>
        </p:nvSpPr>
        <p:spPr>
          <a:xfrm>
            <a:off x="7360920" y="1645920"/>
            <a:ext cx="3566160" cy="3566160"/>
          </a:xfrm>
          <a:prstGeom prst="ellipse">
            <a:avLst/>
          </a:prstGeom>
          <a:solidFill>
            <a:schemeClr val="tx1">
              <a:alpha val="0"/>
            </a:schemeClr>
          </a:solidFill>
          <a:ln w="12700">
            <a:solidFill>
              <a:schemeClr val="accent3"/>
            </a:solidFill>
            <a:prstDash val="solid"/>
          </a:ln>
        </p:spPr>
      </p:sp>
      <p:sp>
        <p:nvSpPr>
          <p:cNvPr id="4" name="Orbit 3"/>
          <p:cNvSpPr/>
          <p:nvPr/>
        </p:nvSpPr>
        <p:spPr>
          <a:xfrm>
            <a:off x="8138160" y="2423160"/>
            <a:ext cx="2011680" cy="2011680"/>
          </a:xfrm>
          <a:prstGeom prst="ellipse">
            <a:avLst/>
          </a:prstGeom>
          <a:solidFill>
            <a:schemeClr val="tx1">
              <a:alpha val="0"/>
            </a:schemeClr>
          </a:solidFill>
          <a:ln w="25400">
            <a:solidFill>
              <a:schemeClr val="accent1"/>
            </a:solidFill>
            <a:prstDash val="solid"/>
          </a:ln>
        </p:spPr>
      </p:sp>
      <p:sp>
        <p:nvSpPr>
          <p:cNvPr id="5" name="Core"/>
          <p:cNvSpPr/>
          <p:nvPr/>
        </p:nvSpPr>
        <p:spPr>
          <a:xfrm>
            <a:off x="8942832" y="3227832"/>
            <a:ext cx="402336" cy="402336"/>
          </a:xfrm>
          <a:prstGeom prst="ellipse">
            <a:avLst/>
          </a:prstGeom>
          <a:solidFill>
            <a:schemeClr val="accent1"/>
          </a:solidFill>
          <a:ln w="12700">
            <a:solidFill>
              <a:schemeClr val="accent1"/>
            </a:solidFill>
            <a:prstDash val="solid"/>
          </a:ln>
        </p:spPr>
      </p:sp>
      <p:sp>
        <p:nvSpPr>
          <p:cNvPr id="6" name="Node 1"/>
          <p:cNvSpPr/>
          <p:nvPr/>
        </p:nvSpPr>
        <p:spPr>
          <a:xfrm>
            <a:off x="11155680" y="2194560"/>
            <a:ext cx="201168" cy="201168"/>
          </a:xfrm>
          <a:prstGeom prst="ellipse">
            <a:avLst/>
          </a:prstGeom>
          <a:solidFill>
            <a:schemeClr val="bg1"/>
          </a:solidFill>
          <a:ln w="12700">
            <a:solidFill>
              <a:schemeClr val="bg1"/>
            </a:solidFill>
            <a:prstDash val="solid"/>
          </a:ln>
        </p:spPr>
      </p:sp>
      <p:sp>
        <p:nvSpPr>
          <p:cNvPr id="7" name="Node 2"/>
          <p:cNvSpPr/>
          <p:nvPr/>
        </p:nvSpPr>
        <p:spPr>
          <a:xfrm>
            <a:off x="7498080" y="4846320"/>
            <a:ext cx="201168" cy="201168"/>
          </a:xfrm>
          <a:prstGeom prst="ellipse">
            <a:avLst/>
          </a:prstGeom>
          <a:solidFill>
            <a:schemeClr val="bg1"/>
          </a:solidFill>
          <a:ln w="12700">
            <a:solidFill>
              <a:schemeClr val="bg1"/>
            </a:solidFill>
            <a:prstDash val="solid"/>
          </a:ln>
        </p:spPr>
      </p:sp>
      <p:sp>
        <p:nvSpPr>
          <p:cNvPr id="8" name="Node 3"/>
          <p:cNvSpPr/>
          <p:nvPr/>
        </p:nvSpPr>
        <p:spPr>
          <a:xfrm>
            <a:off x="9966960" y="5394960"/>
            <a:ext cx="201168" cy="201168"/>
          </a:xfrm>
          <a:prstGeom prst="ellipse">
            <a:avLst/>
          </a:prstGeom>
          <a:solidFill>
            <a:schemeClr val="bg1"/>
          </a:solidFill>
          <a:ln w="12700">
            <a:solidFill>
              <a:schemeClr val="bg1"/>
            </a:solidFill>
            <a:prstDash val="solid"/>
          </a:ln>
        </p:spPr>
      </p:sp>
      <p:sp>
        <p:nvSpPr>
          <p:cNvPr id="9" name="Text 7"/>
          <p:cNvSpPr txBox="1"/>
          <p:nvPr/>
        </p:nvSpPr>
        <p:spPr>
          <a:xfrm>
            <a:off x="640080" y="1828800"/>
            <a:ext cx="6400800" cy="365760"/>
          </a:xfrm>
          <a:prstGeom prst="rect">
            <a:avLst/>
          </a:prstGeom>
          <a:noFill/>
          <a:ln/>
        </p:spPr>
        <p:txBody>
          <a:bodyPr wrap="square" lIns="0" tIns="0" rIns="0" bIns="0" rtlCol="0" anchor="t"/>
          <a:lstStyle/>
          <a:p>
            <a:pPr marL="0" indent="0">
              <a:buNone/>
            </a:pPr>
            <a:r>
              <a:rPr lang="en-US" sz="1400" b="1" kern="0" spc="400" dirty="0">
                <a:solidFill>
                  <a:schemeClr val="accent1"/>
                </a:solidFill>
              </a:rPr>
              <a:t>PHASE 2  ·  MICROSERVICES</a:t>
            </a:r>
            <a:endParaRPr lang="en-US" sz="1400" dirty="0"/>
          </a:p>
        </p:txBody>
      </p:sp>
      <p:sp>
        <p:nvSpPr>
          <p:cNvPr id="10" name="Text 8"/>
          <p:cNvSpPr txBox="1"/>
          <p:nvPr/>
        </p:nvSpPr>
        <p:spPr>
          <a:xfrm>
            <a:off x="640080" y="2331720"/>
            <a:ext cx="7315200" cy="1463040"/>
          </a:xfrm>
          <a:prstGeom prst="rect">
            <a:avLst/>
          </a:prstGeom>
          <a:noFill/>
          <a:ln/>
        </p:spPr>
        <p:txBody>
          <a:bodyPr wrap="square" lIns="0" tIns="0" rIns="0" bIns="0" rtlCol="0" anchor="ctr"/>
          <a:lstStyle/>
          <a:p>
            <a:pPr marL="0" indent="0">
              <a:buNone/>
            </a:pPr>
            <a:r>
              <a:rPr lang="en-US" sz="8800" b="1" dirty="0">
                <a:solidFill>
                  <a:schemeClr val="bg1"/>
                </a:solidFill>
              </a:rPr>
              <a:t>RideMesh</a:t>
            </a:r>
            <a:endParaRPr lang="en-US" sz="8800" dirty="0"/>
          </a:p>
        </p:txBody>
      </p:sp>
      <p:sp>
        <p:nvSpPr>
          <p:cNvPr id="11" name="Text 9"/>
          <p:cNvSpPr txBox="1"/>
          <p:nvPr/>
        </p:nvSpPr>
        <p:spPr>
          <a:xfrm>
            <a:off x="640080" y="3931920"/>
            <a:ext cx="6583680" cy="822960"/>
          </a:xfrm>
          <a:prstGeom prst="rect">
            <a:avLst/>
          </a:prstGeom>
          <a:noFill/>
          <a:ln/>
        </p:spPr>
        <p:txBody>
          <a:bodyPr wrap="square" lIns="0" tIns="0" rIns="0" bIns="0" rtlCol="0" anchor="t"/>
          <a:lstStyle/>
          <a:p>
            <a:pPr marL="0" indent="0">
              <a:buNone/>
            </a:pPr>
            <a:r>
              <a:rPr lang="en-US" sz="2400" dirty="0">
                <a:solidFill>
                  <a:schemeClr val="bg2"/>
                </a:solidFill>
              </a:rPr>
              <a:t>Distributed, event-driven cab booking and dispatch</a:t>
            </a:r>
            <a:endParaRPr lang="en-US" sz="2400" dirty="0"/>
          </a:p>
        </p:txBody>
      </p:sp>
      <p:sp>
        <p:nvSpPr>
          <p:cNvPr id="12" name="Text 10"/>
          <p:cNvSpPr txBox="1"/>
          <p:nvPr/>
        </p:nvSpPr>
        <p:spPr>
          <a:xfrm>
            <a:off x="640080" y="5257800"/>
            <a:ext cx="7315200" cy="960120"/>
          </a:xfrm>
          <a:prstGeom prst="rect">
            <a:avLst/>
          </a:prstGeom>
          <a:noFill/>
          <a:ln/>
        </p:spPr>
        <p:txBody>
          <a:bodyPr wrap="square" lIns="0" tIns="0" rIns="0" bIns="0" rtlCol="0" anchor="t"/>
          <a:lstStyle/>
          <a:p>
            <a:pPr marL="0" indent="0">
              <a:buNone/>
            </a:pPr>
            <a:r>
              <a:rPr lang="en-US" sz="1400" dirty="0">
                <a:solidFill>
                  <a:schemeClr val="bg2"/>
                </a:solidFill>
              </a:rPr>
              <a:t>Ritish Kumar  ·  A042</a:t>
            </a:r>
          </a:p>
          <a:p>
            <a:pPr marL="0" indent="0">
              <a:buNone/>
            </a:pPr>
            <a:r>
              <a:rPr lang="en-US" sz="1400" dirty="0">
                <a:solidFill>
                  <a:schemeClr val="bg2"/>
                </a:solidFill>
              </a:rPr>
              <a:t>Yog Vasaikar  ·  A064</a:t>
            </a:r>
          </a:p>
          <a:p>
            <a:r>
              <a:rPr lang="en-US" sz="1400" dirty="0">
                <a:solidFill>
                  <a:schemeClr val="bg2"/>
                </a:solidFill>
              </a:rPr>
              <a:t>Sumukh </a:t>
            </a:r>
            <a:r>
              <a:rPr lang="en-US" sz="1400" dirty="0" err="1">
                <a:solidFill>
                  <a:schemeClr val="bg2"/>
                </a:solidFill>
              </a:rPr>
              <a:t>Kanekar</a:t>
            </a:r>
            <a:r>
              <a:rPr lang="en-US" sz="1400" dirty="0">
                <a:solidFill>
                  <a:schemeClr val="bg2"/>
                </a:solidFill>
              </a:rPr>
              <a:t> </a:t>
            </a:r>
            <a:r>
              <a:rPr lang="en-US" sz="1400">
                <a:solidFill>
                  <a:schemeClr val="bg2"/>
                </a:solidFill>
              </a:rPr>
              <a:t>· A067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One failure shouldn't stop every ride</a:t>
            </a:r>
            <a:endParaRPr lang="en-US" sz="3600" dirty="0"/>
          </a:p>
        </p:txBody>
      </p:sp>
      <p:sp>
        <p:nvSpPr>
          <p:cNvPr id="3" name="Text 1"/>
          <p:cNvSpPr txBox="1"/>
          <p:nvPr/>
        </p:nvSpPr>
        <p:spPr>
          <a:xfrm>
            <a:off x="640080" y="1737360"/>
            <a:ext cx="5669280" cy="411480"/>
          </a:xfrm>
          <a:prstGeom prst="rect">
            <a:avLst/>
          </a:prstGeom>
          <a:noFill/>
          <a:ln/>
        </p:spPr>
        <p:txBody>
          <a:bodyPr wrap="square" lIns="0" tIns="0" rIns="0" bIns="0" rtlCol="0" anchor="t"/>
          <a:lstStyle/>
          <a:p>
            <a:pPr marL="0" indent="0">
              <a:buNone/>
            </a:pPr>
            <a:r>
              <a:rPr lang="en-US" sz="2200" b="1" dirty="0">
                <a:solidFill>
                  <a:schemeClr val="bg1"/>
                </a:solidFill>
              </a:rPr>
              <a:t>Tight coupling</a:t>
            </a:r>
            <a:endParaRPr lang="en-US" sz="2200" dirty="0"/>
          </a:p>
        </p:txBody>
      </p:sp>
      <p:sp>
        <p:nvSpPr>
          <p:cNvPr id="4" name="Text 2"/>
          <p:cNvSpPr txBox="1"/>
          <p:nvPr/>
        </p:nvSpPr>
        <p:spPr>
          <a:xfrm>
            <a:off x="640080" y="2194560"/>
            <a:ext cx="5486400" cy="640080"/>
          </a:xfrm>
          <a:prstGeom prst="rect">
            <a:avLst/>
          </a:prstGeom>
          <a:noFill/>
          <a:ln/>
        </p:spPr>
        <p:txBody>
          <a:bodyPr wrap="square" lIns="0" tIns="0" rIns="0" bIns="0" rtlCol="0" anchor="t"/>
          <a:lstStyle/>
          <a:p>
            <a:pPr marL="0" indent="0">
              <a:buNone/>
            </a:pPr>
            <a:r>
              <a:rPr lang="en-US" sz="1400" dirty="0">
                <a:solidFill>
                  <a:schemeClr val="bg2"/>
                </a:solidFill>
              </a:rPr>
              <a:t>Shared databases tie every feature to every other.</a:t>
            </a:r>
            <a:endParaRPr lang="en-US" sz="1400" dirty="0"/>
          </a:p>
        </p:txBody>
      </p:sp>
      <p:sp>
        <p:nvSpPr>
          <p:cNvPr id="5" name="Shape 3"/>
          <p:cNvSpPr/>
          <p:nvPr/>
        </p:nvSpPr>
        <p:spPr>
          <a:xfrm>
            <a:off x="640080" y="2971800"/>
            <a:ext cx="5486400" cy="0"/>
          </a:xfrm>
          <a:prstGeom prst="line">
            <a:avLst/>
          </a:prstGeom>
          <a:noFill/>
          <a:ln w="12700">
            <a:solidFill>
              <a:schemeClr val="accent2"/>
            </a:solidFill>
            <a:prstDash val="solid"/>
          </a:ln>
        </p:spPr>
      </p:sp>
      <p:sp>
        <p:nvSpPr>
          <p:cNvPr id="6" name="Text 4"/>
          <p:cNvSpPr txBox="1"/>
          <p:nvPr/>
        </p:nvSpPr>
        <p:spPr>
          <a:xfrm>
            <a:off x="640080" y="3154680"/>
            <a:ext cx="5669280" cy="411480"/>
          </a:xfrm>
          <a:prstGeom prst="rect">
            <a:avLst/>
          </a:prstGeom>
          <a:noFill/>
          <a:ln/>
        </p:spPr>
        <p:txBody>
          <a:bodyPr wrap="square" lIns="0" tIns="0" rIns="0" bIns="0" rtlCol="0" anchor="t"/>
          <a:lstStyle/>
          <a:p>
            <a:pPr marL="0" indent="0">
              <a:buNone/>
            </a:pPr>
            <a:r>
              <a:rPr lang="en-US" sz="2200" b="1" dirty="0">
                <a:solidFill>
                  <a:schemeClr val="bg1"/>
                </a:solidFill>
              </a:rPr>
              <a:t>Single point of failure</a:t>
            </a:r>
            <a:endParaRPr lang="en-US" sz="2200" dirty="0"/>
          </a:p>
        </p:txBody>
      </p:sp>
      <p:sp>
        <p:nvSpPr>
          <p:cNvPr id="7" name="Text 5"/>
          <p:cNvSpPr txBox="1"/>
          <p:nvPr/>
        </p:nvSpPr>
        <p:spPr>
          <a:xfrm>
            <a:off x="640080" y="3611880"/>
            <a:ext cx="5486400" cy="640080"/>
          </a:xfrm>
          <a:prstGeom prst="rect">
            <a:avLst/>
          </a:prstGeom>
          <a:noFill/>
          <a:ln/>
        </p:spPr>
        <p:txBody>
          <a:bodyPr wrap="square" lIns="0" tIns="0" rIns="0" bIns="0" rtlCol="0" anchor="t"/>
          <a:lstStyle/>
          <a:p>
            <a:pPr marL="0" indent="0">
              <a:buNone/>
            </a:pPr>
            <a:r>
              <a:rPr lang="en-US" sz="1400" dirty="0">
                <a:solidFill>
                  <a:schemeClr val="bg2"/>
                </a:solidFill>
              </a:rPr>
              <a:t>One crash in a monolith takes down booking, payment and alerts.</a:t>
            </a:r>
            <a:endParaRPr lang="en-US" sz="1400" dirty="0"/>
          </a:p>
        </p:txBody>
      </p:sp>
      <p:sp>
        <p:nvSpPr>
          <p:cNvPr id="8" name="Shape 6"/>
          <p:cNvSpPr/>
          <p:nvPr/>
        </p:nvSpPr>
        <p:spPr>
          <a:xfrm>
            <a:off x="640080" y="4389120"/>
            <a:ext cx="5486400" cy="0"/>
          </a:xfrm>
          <a:prstGeom prst="line">
            <a:avLst/>
          </a:prstGeom>
          <a:noFill/>
          <a:ln w="12700">
            <a:solidFill>
              <a:schemeClr val="accent2"/>
            </a:solidFill>
            <a:prstDash val="solid"/>
          </a:ln>
        </p:spPr>
      </p:sp>
      <p:sp>
        <p:nvSpPr>
          <p:cNvPr id="9" name="Text 7"/>
          <p:cNvSpPr txBox="1"/>
          <p:nvPr/>
        </p:nvSpPr>
        <p:spPr>
          <a:xfrm>
            <a:off x="640080" y="4572000"/>
            <a:ext cx="5669280" cy="411480"/>
          </a:xfrm>
          <a:prstGeom prst="rect">
            <a:avLst/>
          </a:prstGeom>
          <a:noFill/>
          <a:ln/>
        </p:spPr>
        <p:txBody>
          <a:bodyPr wrap="square" lIns="0" tIns="0" rIns="0" bIns="0" rtlCol="0" anchor="t"/>
          <a:lstStyle/>
          <a:p>
            <a:pPr marL="0" indent="0">
              <a:buNone/>
            </a:pPr>
            <a:r>
              <a:rPr lang="en-US" sz="2200" b="1" dirty="0">
                <a:solidFill>
                  <a:schemeClr val="bg1"/>
                </a:solidFill>
              </a:rPr>
              <a:t>Blocking work</a:t>
            </a:r>
            <a:endParaRPr lang="en-US" sz="2200" dirty="0"/>
          </a:p>
        </p:txBody>
      </p:sp>
      <p:sp>
        <p:nvSpPr>
          <p:cNvPr id="10" name="Text 8"/>
          <p:cNvSpPr txBox="1"/>
          <p:nvPr/>
        </p:nvSpPr>
        <p:spPr>
          <a:xfrm>
            <a:off x="640080" y="5029200"/>
            <a:ext cx="5486400" cy="640080"/>
          </a:xfrm>
          <a:prstGeom prst="rect">
            <a:avLst/>
          </a:prstGeom>
          <a:noFill/>
          <a:ln/>
        </p:spPr>
        <p:txBody>
          <a:bodyPr wrap="square" lIns="0" tIns="0" rIns="0" bIns="0" rtlCol="0" anchor="t"/>
          <a:lstStyle/>
          <a:p>
            <a:pPr marL="0" indent="0">
              <a:buNone/>
            </a:pPr>
            <a:r>
              <a:rPr lang="en-US" sz="1400" dirty="0">
                <a:solidFill>
                  <a:schemeClr val="bg2"/>
                </a:solidFill>
              </a:rPr>
              <a:t>Emails and payouts slow the rider's request thread.</a:t>
            </a:r>
            <a:endParaRPr lang="en-US" sz="1400" dirty="0"/>
          </a:p>
        </p:txBody>
      </p:sp>
      <p:sp>
        <p:nvSpPr>
          <p:cNvPr id="11" name="Text 9"/>
          <p:cNvSpPr txBox="1"/>
          <p:nvPr/>
        </p:nvSpPr>
        <p:spPr>
          <a:xfrm>
            <a:off x="7498080" y="1600200"/>
            <a:ext cx="1463040" cy="1097280"/>
          </a:xfrm>
          <a:prstGeom prst="rect">
            <a:avLst/>
          </a:prstGeom>
          <a:noFill/>
          <a:ln/>
        </p:spPr>
        <p:txBody>
          <a:bodyPr wrap="square" lIns="0" tIns="0" rIns="0" bIns="0" rtlCol="0" anchor="ctr"/>
          <a:lstStyle/>
          <a:p>
            <a:pPr marL="0" indent="0">
              <a:buNone/>
            </a:pPr>
            <a:r>
              <a:rPr lang="en-US" sz="7200" b="1" dirty="0">
                <a:solidFill>
                  <a:schemeClr val="accent1"/>
                </a:solidFill>
              </a:rPr>
              <a:t>7</a:t>
            </a:r>
            <a:endParaRPr lang="en-US" sz="7200" dirty="0"/>
          </a:p>
        </p:txBody>
      </p:sp>
      <p:sp>
        <p:nvSpPr>
          <p:cNvPr id="12" name="Text 10"/>
          <p:cNvSpPr txBox="1"/>
          <p:nvPr/>
        </p:nvSpPr>
        <p:spPr>
          <a:xfrm>
            <a:off x="9052560" y="1600200"/>
            <a:ext cx="2468880" cy="1097280"/>
          </a:xfrm>
          <a:prstGeom prst="rect">
            <a:avLst/>
          </a:prstGeom>
          <a:noFill/>
          <a:ln/>
        </p:spPr>
        <p:txBody>
          <a:bodyPr wrap="square" lIns="0" tIns="0" rIns="0" bIns="0" rtlCol="0" anchor="ctr"/>
          <a:lstStyle/>
          <a:p>
            <a:pPr marL="0" indent="0">
              <a:buNone/>
            </a:pPr>
            <a:r>
              <a:rPr lang="en-US" sz="1600" dirty="0">
                <a:solidFill>
                  <a:schemeClr val="bg2"/>
                </a:solidFill>
              </a:rPr>
              <a:t>microservices</a:t>
            </a:r>
            <a:endParaRPr lang="en-US" sz="1600" dirty="0"/>
          </a:p>
        </p:txBody>
      </p:sp>
      <p:sp>
        <p:nvSpPr>
          <p:cNvPr id="13" name="Text 11"/>
          <p:cNvSpPr txBox="1"/>
          <p:nvPr/>
        </p:nvSpPr>
        <p:spPr>
          <a:xfrm>
            <a:off x="7498080" y="3063240"/>
            <a:ext cx="1463040" cy="1097280"/>
          </a:xfrm>
          <a:prstGeom prst="rect">
            <a:avLst/>
          </a:prstGeom>
          <a:noFill/>
          <a:ln/>
        </p:spPr>
        <p:txBody>
          <a:bodyPr wrap="square" lIns="0" tIns="0" rIns="0" bIns="0" rtlCol="0" anchor="ctr"/>
          <a:lstStyle/>
          <a:p>
            <a:pPr marL="0" indent="0">
              <a:buNone/>
            </a:pPr>
            <a:r>
              <a:rPr lang="en-US" sz="7200" b="1" dirty="0">
                <a:solidFill>
                  <a:schemeClr val="accent1"/>
                </a:solidFill>
              </a:rPr>
              <a:t>4</a:t>
            </a:r>
            <a:endParaRPr lang="en-US" sz="7200" dirty="0"/>
          </a:p>
        </p:txBody>
      </p:sp>
      <p:sp>
        <p:nvSpPr>
          <p:cNvPr id="14" name="Text 12"/>
          <p:cNvSpPr txBox="1"/>
          <p:nvPr/>
        </p:nvSpPr>
        <p:spPr>
          <a:xfrm>
            <a:off x="9052560" y="3063240"/>
            <a:ext cx="2468880" cy="1097280"/>
          </a:xfrm>
          <a:prstGeom prst="rect">
            <a:avLst/>
          </a:prstGeom>
          <a:noFill/>
          <a:ln/>
        </p:spPr>
        <p:txBody>
          <a:bodyPr wrap="square" lIns="0" tIns="0" rIns="0" bIns="0" rtlCol="0" anchor="ctr"/>
          <a:lstStyle/>
          <a:p>
            <a:pPr marL="0" indent="0">
              <a:buNone/>
            </a:pPr>
            <a:r>
              <a:rPr lang="en-US" sz="1600" dirty="0">
                <a:solidFill>
                  <a:schemeClr val="bg2"/>
                </a:solidFill>
              </a:rPr>
              <a:t>databases, one per service</a:t>
            </a:r>
            <a:endParaRPr lang="en-US" sz="1600" dirty="0"/>
          </a:p>
        </p:txBody>
      </p:sp>
      <p:sp>
        <p:nvSpPr>
          <p:cNvPr id="15" name="Text 13"/>
          <p:cNvSpPr txBox="1"/>
          <p:nvPr/>
        </p:nvSpPr>
        <p:spPr>
          <a:xfrm>
            <a:off x="7498080" y="4526280"/>
            <a:ext cx="1463040" cy="1097280"/>
          </a:xfrm>
          <a:prstGeom prst="rect">
            <a:avLst/>
          </a:prstGeom>
          <a:noFill/>
          <a:ln/>
        </p:spPr>
        <p:txBody>
          <a:bodyPr wrap="square" lIns="0" tIns="0" rIns="0" bIns="0" rtlCol="0" anchor="ctr"/>
          <a:lstStyle/>
          <a:p>
            <a:pPr marL="0" indent="0">
              <a:buNone/>
            </a:pPr>
            <a:r>
              <a:rPr lang="en-US" sz="7200" b="1" dirty="0">
                <a:solidFill>
                  <a:schemeClr val="accent1"/>
                </a:solidFill>
              </a:rPr>
              <a:t>8</a:t>
            </a:r>
            <a:endParaRPr lang="en-US" sz="7200" dirty="0"/>
          </a:p>
        </p:txBody>
      </p:sp>
      <p:sp>
        <p:nvSpPr>
          <p:cNvPr id="16" name="Text 14"/>
          <p:cNvSpPr txBox="1"/>
          <p:nvPr/>
        </p:nvSpPr>
        <p:spPr>
          <a:xfrm>
            <a:off x="9052560" y="4526280"/>
            <a:ext cx="2468880" cy="1097280"/>
          </a:xfrm>
          <a:prstGeom prst="rect">
            <a:avLst/>
          </a:prstGeom>
          <a:noFill/>
          <a:ln/>
        </p:spPr>
        <p:txBody>
          <a:bodyPr wrap="square" lIns="0" tIns="0" rIns="0" bIns="0" rtlCol="0" anchor="ctr"/>
          <a:lstStyle/>
          <a:p>
            <a:pPr marL="0" indent="0">
              <a:buNone/>
            </a:pPr>
            <a:r>
              <a:rPr lang="en-US" sz="1600" dirty="0">
                <a:solidFill>
                  <a:schemeClr val="bg2"/>
                </a:solidFill>
              </a:rPr>
              <a:t>Kafka topics</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Everything enters through one gateway</a:t>
            </a:r>
            <a:endParaRPr lang="en-US" sz="3600" dirty="0"/>
          </a:p>
        </p:txBody>
      </p:sp>
      <p:sp>
        <p:nvSpPr>
          <p:cNvPr id="3" name="Client"/>
          <p:cNvSpPr/>
          <p:nvPr/>
        </p:nvSpPr>
        <p:spPr>
          <a:xfrm>
            <a:off x="640080" y="1463040"/>
            <a:ext cx="2377440" cy="731520"/>
          </a:xfrm>
          <a:prstGeom prst="roundRect">
            <a:avLst>
              <a:gd name="adj" fmla="val 15000"/>
            </a:avLst>
          </a:prstGeom>
          <a:solidFill>
            <a:schemeClr val="tx2"/>
          </a:solidFill>
          <a:ln w="12700">
            <a:solidFill>
              <a:schemeClr val="accent2"/>
            </a:solidFill>
            <a:prstDash val="solid"/>
          </a:ln>
        </p:spPr>
      </p:sp>
      <p:sp>
        <p:nvSpPr>
          <p:cNvPr id="4" name="Text 2"/>
          <p:cNvSpPr txBox="1"/>
          <p:nvPr/>
        </p:nvSpPr>
        <p:spPr>
          <a:xfrm>
            <a:off x="640080" y="1463040"/>
            <a:ext cx="2377440" cy="731520"/>
          </a:xfrm>
          <a:prstGeom prst="rect">
            <a:avLst/>
          </a:prstGeom>
          <a:noFill/>
          <a:ln/>
        </p:spPr>
        <p:txBody>
          <a:bodyPr wrap="square" lIns="0" tIns="0" rIns="0" bIns="0" rtlCol="0" anchor="ctr"/>
          <a:lstStyle/>
          <a:p>
            <a:pPr marL="0" indent="0" algn="ctr">
              <a:buNone/>
            </a:pPr>
            <a:r>
              <a:rPr lang="en-US" sz="1600" b="1" dirty="0">
                <a:solidFill>
                  <a:schemeClr val="bg1"/>
                </a:solidFill>
              </a:rPr>
              <a:t>Thymeleaf UI  :8085</a:t>
            </a:r>
            <a:endParaRPr lang="en-US" sz="1600" dirty="0"/>
          </a:p>
        </p:txBody>
      </p:sp>
      <p:sp>
        <p:nvSpPr>
          <p:cNvPr id="5" name="Shape 3"/>
          <p:cNvSpPr/>
          <p:nvPr/>
        </p:nvSpPr>
        <p:spPr>
          <a:xfrm>
            <a:off x="3017520" y="1828800"/>
            <a:ext cx="1892808" cy="0"/>
          </a:xfrm>
          <a:prstGeom prst="line">
            <a:avLst/>
          </a:prstGeom>
          <a:noFill/>
          <a:ln w="19050">
            <a:solidFill>
              <a:schemeClr val="accent3"/>
            </a:solidFill>
            <a:prstDash val="solid"/>
            <a:tailEnd type="triangle"/>
          </a:ln>
        </p:spPr>
      </p:sp>
      <p:sp>
        <p:nvSpPr>
          <p:cNvPr id="6" name="Gateway"/>
          <p:cNvSpPr/>
          <p:nvPr/>
        </p:nvSpPr>
        <p:spPr>
          <a:xfrm>
            <a:off x="4910328" y="1463040"/>
            <a:ext cx="2377440" cy="731520"/>
          </a:xfrm>
          <a:prstGeom prst="roundRect">
            <a:avLst>
              <a:gd name="adj" fmla="val 15000"/>
            </a:avLst>
          </a:prstGeom>
          <a:solidFill>
            <a:schemeClr val="tx2"/>
          </a:solidFill>
          <a:ln w="12700">
            <a:solidFill>
              <a:schemeClr val="accent1"/>
            </a:solidFill>
            <a:prstDash val="solid"/>
          </a:ln>
        </p:spPr>
      </p:sp>
      <p:sp>
        <p:nvSpPr>
          <p:cNvPr id="7" name="Text 5"/>
          <p:cNvSpPr txBox="1"/>
          <p:nvPr/>
        </p:nvSpPr>
        <p:spPr>
          <a:xfrm>
            <a:off x="4910328" y="1463040"/>
            <a:ext cx="2377440" cy="731520"/>
          </a:xfrm>
          <a:prstGeom prst="rect">
            <a:avLst/>
          </a:prstGeom>
          <a:noFill/>
          <a:ln/>
        </p:spPr>
        <p:txBody>
          <a:bodyPr wrap="square" lIns="0" tIns="0" rIns="0" bIns="0" rtlCol="0" anchor="ctr"/>
          <a:lstStyle/>
          <a:p>
            <a:pPr marL="0" indent="0" algn="ctr">
              <a:buNone/>
            </a:pPr>
            <a:r>
              <a:rPr lang="en-US" sz="1600" b="1" dirty="0">
                <a:solidFill>
                  <a:schemeClr val="bg1"/>
                </a:solidFill>
              </a:rPr>
              <a:t>API Gateway  :8089</a:t>
            </a:r>
            <a:endParaRPr lang="en-US" sz="1600" dirty="0"/>
          </a:p>
        </p:txBody>
      </p:sp>
      <p:sp>
        <p:nvSpPr>
          <p:cNvPr id="8" name="Shape 6"/>
          <p:cNvSpPr/>
          <p:nvPr/>
        </p:nvSpPr>
        <p:spPr>
          <a:xfrm>
            <a:off x="7287768" y="1828800"/>
            <a:ext cx="1856232" cy="0"/>
          </a:xfrm>
          <a:prstGeom prst="line">
            <a:avLst/>
          </a:prstGeom>
          <a:noFill/>
          <a:ln w="19050">
            <a:solidFill>
              <a:schemeClr val="accent3"/>
            </a:solidFill>
            <a:prstDash val="dash"/>
          </a:ln>
        </p:spPr>
      </p:sp>
      <p:sp>
        <p:nvSpPr>
          <p:cNvPr id="9" name="Eureka"/>
          <p:cNvSpPr/>
          <p:nvPr/>
        </p:nvSpPr>
        <p:spPr>
          <a:xfrm>
            <a:off x="9144000" y="1463040"/>
            <a:ext cx="2377440" cy="731520"/>
          </a:xfrm>
          <a:prstGeom prst="roundRect">
            <a:avLst>
              <a:gd name="adj" fmla="val 15000"/>
            </a:avLst>
          </a:prstGeom>
          <a:solidFill>
            <a:schemeClr val="tx2"/>
          </a:solidFill>
          <a:ln w="12700">
            <a:solidFill>
              <a:schemeClr val="accent2"/>
            </a:solidFill>
            <a:prstDash val="solid"/>
          </a:ln>
        </p:spPr>
      </p:sp>
      <p:sp>
        <p:nvSpPr>
          <p:cNvPr id="10" name="Text 8"/>
          <p:cNvSpPr txBox="1"/>
          <p:nvPr/>
        </p:nvSpPr>
        <p:spPr>
          <a:xfrm>
            <a:off x="9144000" y="1463040"/>
            <a:ext cx="2377440" cy="731520"/>
          </a:xfrm>
          <a:prstGeom prst="rect">
            <a:avLst/>
          </a:prstGeom>
          <a:noFill/>
          <a:ln/>
        </p:spPr>
        <p:txBody>
          <a:bodyPr wrap="square" lIns="0" tIns="0" rIns="0" bIns="0" rtlCol="0" anchor="ctr"/>
          <a:lstStyle/>
          <a:p>
            <a:pPr marL="0" indent="0" algn="ctr">
              <a:buNone/>
            </a:pPr>
            <a:r>
              <a:rPr lang="en-US" sz="1600" b="1" dirty="0">
                <a:solidFill>
                  <a:schemeClr val="bg1"/>
                </a:solidFill>
              </a:rPr>
              <a:t>Eureka  :8761</a:t>
            </a:r>
            <a:endParaRPr lang="en-US" sz="1600" dirty="0"/>
          </a:p>
        </p:txBody>
      </p:sp>
      <p:sp>
        <p:nvSpPr>
          <p:cNvPr id="11" name="Shape 9"/>
          <p:cNvSpPr/>
          <p:nvPr/>
        </p:nvSpPr>
        <p:spPr>
          <a:xfrm>
            <a:off x="6099048" y="2194560"/>
            <a:ext cx="0" cy="274320"/>
          </a:xfrm>
          <a:prstGeom prst="line">
            <a:avLst/>
          </a:prstGeom>
          <a:noFill/>
          <a:ln w="19050">
            <a:solidFill>
              <a:schemeClr val="accent3"/>
            </a:solidFill>
            <a:prstDash val="solid"/>
          </a:ln>
        </p:spPr>
      </p:sp>
      <p:sp>
        <p:nvSpPr>
          <p:cNvPr id="12" name="Shape 10"/>
          <p:cNvSpPr/>
          <p:nvPr/>
        </p:nvSpPr>
        <p:spPr>
          <a:xfrm>
            <a:off x="1920240" y="2468880"/>
            <a:ext cx="8311896" cy="0"/>
          </a:xfrm>
          <a:prstGeom prst="line">
            <a:avLst/>
          </a:prstGeom>
          <a:noFill/>
          <a:ln w="19050">
            <a:solidFill>
              <a:schemeClr val="accent3"/>
            </a:solidFill>
            <a:prstDash val="solid"/>
          </a:ln>
        </p:spPr>
      </p:sp>
      <p:sp>
        <p:nvSpPr>
          <p:cNvPr id="13" name="Shape 11"/>
          <p:cNvSpPr/>
          <p:nvPr/>
        </p:nvSpPr>
        <p:spPr>
          <a:xfrm>
            <a:off x="1920240" y="2468880"/>
            <a:ext cx="0" cy="228600"/>
          </a:xfrm>
          <a:prstGeom prst="line">
            <a:avLst/>
          </a:prstGeom>
          <a:noFill/>
          <a:ln w="19050">
            <a:solidFill>
              <a:schemeClr val="accent3"/>
            </a:solidFill>
            <a:prstDash val="solid"/>
          </a:ln>
        </p:spPr>
      </p:sp>
      <p:sp>
        <p:nvSpPr>
          <p:cNvPr id="14" name="UserService"/>
          <p:cNvSpPr/>
          <p:nvPr/>
        </p:nvSpPr>
        <p:spPr>
          <a:xfrm>
            <a:off x="640080" y="2697480"/>
            <a:ext cx="2560320" cy="1600200"/>
          </a:xfrm>
          <a:prstGeom prst="roundRect">
            <a:avLst>
              <a:gd name="adj" fmla="val 6857"/>
            </a:avLst>
          </a:prstGeom>
          <a:solidFill>
            <a:schemeClr val="tx2"/>
          </a:solidFill>
          <a:ln w="12700">
            <a:solidFill>
              <a:schemeClr val="accent2"/>
            </a:solidFill>
            <a:prstDash val="solid"/>
          </a:ln>
        </p:spPr>
      </p:sp>
      <p:sp>
        <p:nvSpPr>
          <p:cNvPr id="15" name="Text 13"/>
          <p:cNvSpPr txBox="1"/>
          <p:nvPr/>
        </p:nvSpPr>
        <p:spPr>
          <a:xfrm>
            <a:off x="822960" y="2834640"/>
            <a:ext cx="2194560" cy="320040"/>
          </a:xfrm>
          <a:prstGeom prst="rect">
            <a:avLst/>
          </a:prstGeom>
          <a:noFill/>
          <a:ln/>
        </p:spPr>
        <p:txBody>
          <a:bodyPr wrap="square" lIns="0" tIns="0" rIns="0" bIns="0" rtlCol="0" anchor="t"/>
          <a:lstStyle/>
          <a:p>
            <a:pPr marL="0" indent="0">
              <a:buNone/>
            </a:pPr>
            <a:r>
              <a:rPr lang="en-US" sz="1800" b="1" dirty="0">
                <a:solidFill>
                  <a:schemeClr val="bg1"/>
                </a:solidFill>
              </a:rPr>
              <a:t>UserService</a:t>
            </a:r>
            <a:endParaRPr lang="en-US" sz="1800" dirty="0"/>
          </a:p>
        </p:txBody>
      </p:sp>
      <p:sp>
        <p:nvSpPr>
          <p:cNvPr id="16" name="Text 14"/>
          <p:cNvSpPr txBox="1"/>
          <p:nvPr/>
        </p:nvSpPr>
        <p:spPr>
          <a:xfrm>
            <a:off x="822960" y="3200400"/>
            <a:ext cx="2194560" cy="274320"/>
          </a:xfrm>
          <a:prstGeom prst="rect">
            <a:avLst/>
          </a:prstGeom>
          <a:noFill/>
          <a:ln/>
        </p:spPr>
        <p:txBody>
          <a:bodyPr wrap="square" lIns="0" tIns="0" rIns="0" bIns="0" rtlCol="0" anchor="t"/>
          <a:lstStyle/>
          <a:p>
            <a:pPr marL="0" indent="0">
              <a:buNone/>
            </a:pPr>
            <a:r>
              <a:rPr lang="en-US" sz="1400" b="1" dirty="0">
                <a:solidFill>
                  <a:schemeClr val="accent1"/>
                </a:solidFill>
              </a:rPr>
              <a:t>:8081</a:t>
            </a:r>
            <a:endParaRPr lang="en-US" sz="1400" dirty="0"/>
          </a:p>
        </p:txBody>
      </p:sp>
      <p:sp>
        <p:nvSpPr>
          <p:cNvPr id="17" name="Text 15"/>
          <p:cNvSpPr txBox="1"/>
          <p:nvPr/>
        </p:nvSpPr>
        <p:spPr>
          <a:xfrm>
            <a:off x="822960" y="3520440"/>
            <a:ext cx="2194560" cy="274320"/>
          </a:xfrm>
          <a:prstGeom prst="rect">
            <a:avLst/>
          </a:prstGeom>
          <a:noFill/>
          <a:ln/>
        </p:spPr>
        <p:txBody>
          <a:bodyPr wrap="square" lIns="0" tIns="0" rIns="0" bIns="0" rtlCol="0" anchor="t"/>
          <a:lstStyle/>
          <a:p>
            <a:pPr marL="0" indent="0">
              <a:buNone/>
            </a:pPr>
            <a:r>
              <a:rPr lang="en-US" sz="1400" dirty="0">
                <a:solidFill>
                  <a:schemeClr val="bg2"/>
                </a:solidFill>
              </a:rPr>
              <a:t>Identity, KYC, drivers</a:t>
            </a:r>
            <a:endParaRPr lang="en-US" sz="1400" dirty="0"/>
          </a:p>
        </p:txBody>
      </p:sp>
      <p:sp>
        <p:nvSpPr>
          <p:cNvPr id="18" name="Text 16"/>
          <p:cNvSpPr txBox="1"/>
          <p:nvPr/>
        </p:nvSpPr>
        <p:spPr>
          <a:xfrm>
            <a:off x="822960" y="3931920"/>
            <a:ext cx="2194560" cy="22860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ridemesh_user_db</a:t>
            </a:r>
            <a:endParaRPr lang="en-US" sz="1200" dirty="0"/>
          </a:p>
        </p:txBody>
      </p:sp>
      <p:sp>
        <p:nvSpPr>
          <p:cNvPr id="19" name="Shape 17"/>
          <p:cNvSpPr/>
          <p:nvPr/>
        </p:nvSpPr>
        <p:spPr>
          <a:xfrm>
            <a:off x="1920240" y="4297680"/>
            <a:ext cx="0" cy="548640"/>
          </a:xfrm>
          <a:prstGeom prst="line">
            <a:avLst/>
          </a:prstGeom>
          <a:noFill/>
          <a:ln w="19050">
            <a:solidFill>
              <a:schemeClr val="accent3"/>
            </a:solidFill>
            <a:prstDash val="solid"/>
          </a:ln>
        </p:spPr>
      </p:sp>
      <p:sp>
        <p:nvSpPr>
          <p:cNvPr id="20" name="Shape 18"/>
          <p:cNvSpPr/>
          <p:nvPr/>
        </p:nvSpPr>
        <p:spPr>
          <a:xfrm>
            <a:off x="4690872" y="2468880"/>
            <a:ext cx="0" cy="228600"/>
          </a:xfrm>
          <a:prstGeom prst="line">
            <a:avLst/>
          </a:prstGeom>
          <a:noFill/>
          <a:ln w="19050">
            <a:solidFill>
              <a:schemeClr val="accent3"/>
            </a:solidFill>
            <a:prstDash val="solid"/>
          </a:ln>
        </p:spPr>
      </p:sp>
      <p:sp>
        <p:nvSpPr>
          <p:cNvPr id="21" name="RideService"/>
          <p:cNvSpPr/>
          <p:nvPr/>
        </p:nvSpPr>
        <p:spPr>
          <a:xfrm>
            <a:off x="3410712" y="2697480"/>
            <a:ext cx="2560320" cy="1600200"/>
          </a:xfrm>
          <a:prstGeom prst="roundRect">
            <a:avLst>
              <a:gd name="adj" fmla="val 6857"/>
            </a:avLst>
          </a:prstGeom>
          <a:solidFill>
            <a:schemeClr val="tx2"/>
          </a:solidFill>
          <a:ln w="12700">
            <a:solidFill>
              <a:schemeClr val="accent2"/>
            </a:solidFill>
            <a:prstDash val="solid"/>
          </a:ln>
        </p:spPr>
      </p:sp>
      <p:sp>
        <p:nvSpPr>
          <p:cNvPr id="22" name="Text 20"/>
          <p:cNvSpPr txBox="1"/>
          <p:nvPr/>
        </p:nvSpPr>
        <p:spPr>
          <a:xfrm>
            <a:off x="3593592" y="2834640"/>
            <a:ext cx="2194560" cy="320040"/>
          </a:xfrm>
          <a:prstGeom prst="rect">
            <a:avLst/>
          </a:prstGeom>
          <a:noFill/>
          <a:ln/>
        </p:spPr>
        <p:txBody>
          <a:bodyPr wrap="square" lIns="0" tIns="0" rIns="0" bIns="0" rtlCol="0" anchor="t"/>
          <a:lstStyle/>
          <a:p>
            <a:pPr marL="0" indent="0">
              <a:buNone/>
            </a:pPr>
            <a:r>
              <a:rPr lang="en-US" sz="1800" b="1" dirty="0">
                <a:solidFill>
                  <a:schemeClr val="bg1"/>
                </a:solidFill>
              </a:rPr>
              <a:t>RideService</a:t>
            </a:r>
            <a:endParaRPr lang="en-US" sz="1800" dirty="0"/>
          </a:p>
        </p:txBody>
      </p:sp>
      <p:sp>
        <p:nvSpPr>
          <p:cNvPr id="23" name="Text 21"/>
          <p:cNvSpPr txBox="1"/>
          <p:nvPr/>
        </p:nvSpPr>
        <p:spPr>
          <a:xfrm>
            <a:off x="3593592" y="3200400"/>
            <a:ext cx="2194560" cy="274320"/>
          </a:xfrm>
          <a:prstGeom prst="rect">
            <a:avLst/>
          </a:prstGeom>
          <a:noFill/>
          <a:ln/>
        </p:spPr>
        <p:txBody>
          <a:bodyPr wrap="square" lIns="0" tIns="0" rIns="0" bIns="0" rtlCol="0" anchor="t"/>
          <a:lstStyle/>
          <a:p>
            <a:pPr marL="0" indent="0">
              <a:buNone/>
            </a:pPr>
            <a:r>
              <a:rPr lang="en-US" sz="1400" b="1" dirty="0">
                <a:solidFill>
                  <a:schemeClr val="accent1"/>
                </a:solidFill>
              </a:rPr>
              <a:t>:8082</a:t>
            </a:r>
            <a:endParaRPr lang="en-US" sz="1400" dirty="0"/>
          </a:p>
        </p:txBody>
      </p:sp>
      <p:sp>
        <p:nvSpPr>
          <p:cNvPr id="24" name="Text 22"/>
          <p:cNvSpPr txBox="1"/>
          <p:nvPr/>
        </p:nvSpPr>
        <p:spPr>
          <a:xfrm>
            <a:off x="3593592" y="3520440"/>
            <a:ext cx="2194560" cy="274320"/>
          </a:xfrm>
          <a:prstGeom prst="rect">
            <a:avLst/>
          </a:prstGeom>
          <a:noFill/>
          <a:ln/>
        </p:spPr>
        <p:txBody>
          <a:bodyPr wrap="square" lIns="0" tIns="0" rIns="0" bIns="0" rtlCol="0" anchor="t"/>
          <a:lstStyle/>
          <a:p>
            <a:pPr marL="0" indent="0">
              <a:buNone/>
            </a:pPr>
            <a:r>
              <a:rPr lang="en-US" sz="1400" dirty="0">
                <a:solidFill>
                  <a:schemeClr val="bg2"/>
                </a:solidFill>
              </a:rPr>
              <a:t>Trips, fares, OTP</a:t>
            </a:r>
            <a:endParaRPr lang="en-US" sz="1400" dirty="0"/>
          </a:p>
        </p:txBody>
      </p:sp>
      <p:sp>
        <p:nvSpPr>
          <p:cNvPr id="25" name="Text 23"/>
          <p:cNvSpPr txBox="1"/>
          <p:nvPr/>
        </p:nvSpPr>
        <p:spPr>
          <a:xfrm>
            <a:off x="3593592" y="3931920"/>
            <a:ext cx="2194560" cy="22860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ridemesh_ride_db</a:t>
            </a:r>
            <a:endParaRPr lang="en-US" sz="1200" dirty="0"/>
          </a:p>
        </p:txBody>
      </p:sp>
      <p:sp>
        <p:nvSpPr>
          <p:cNvPr id="26" name="Shape 24"/>
          <p:cNvSpPr/>
          <p:nvPr/>
        </p:nvSpPr>
        <p:spPr>
          <a:xfrm>
            <a:off x="4690872" y="4297680"/>
            <a:ext cx="0" cy="548640"/>
          </a:xfrm>
          <a:prstGeom prst="line">
            <a:avLst/>
          </a:prstGeom>
          <a:noFill/>
          <a:ln w="19050">
            <a:solidFill>
              <a:schemeClr val="accent3"/>
            </a:solidFill>
            <a:prstDash val="solid"/>
          </a:ln>
        </p:spPr>
      </p:sp>
      <p:sp>
        <p:nvSpPr>
          <p:cNvPr id="27" name="Shape 25"/>
          <p:cNvSpPr/>
          <p:nvPr/>
        </p:nvSpPr>
        <p:spPr>
          <a:xfrm>
            <a:off x="7461504" y="2468880"/>
            <a:ext cx="0" cy="228600"/>
          </a:xfrm>
          <a:prstGeom prst="line">
            <a:avLst/>
          </a:prstGeom>
          <a:noFill/>
          <a:ln w="19050">
            <a:solidFill>
              <a:schemeClr val="accent3"/>
            </a:solidFill>
            <a:prstDash val="solid"/>
          </a:ln>
        </p:spPr>
      </p:sp>
      <p:sp>
        <p:nvSpPr>
          <p:cNvPr id="28" name="WalletService"/>
          <p:cNvSpPr/>
          <p:nvPr/>
        </p:nvSpPr>
        <p:spPr>
          <a:xfrm>
            <a:off x="6181344" y="2697480"/>
            <a:ext cx="2560320" cy="1600200"/>
          </a:xfrm>
          <a:prstGeom prst="roundRect">
            <a:avLst>
              <a:gd name="adj" fmla="val 6857"/>
            </a:avLst>
          </a:prstGeom>
          <a:solidFill>
            <a:schemeClr val="tx2"/>
          </a:solidFill>
          <a:ln w="12700">
            <a:solidFill>
              <a:schemeClr val="accent2"/>
            </a:solidFill>
            <a:prstDash val="solid"/>
          </a:ln>
        </p:spPr>
      </p:sp>
      <p:sp>
        <p:nvSpPr>
          <p:cNvPr id="29" name="Text 27"/>
          <p:cNvSpPr txBox="1"/>
          <p:nvPr/>
        </p:nvSpPr>
        <p:spPr>
          <a:xfrm>
            <a:off x="6364224" y="2834640"/>
            <a:ext cx="2194560" cy="320040"/>
          </a:xfrm>
          <a:prstGeom prst="rect">
            <a:avLst/>
          </a:prstGeom>
          <a:noFill/>
          <a:ln/>
        </p:spPr>
        <p:txBody>
          <a:bodyPr wrap="square" lIns="0" tIns="0" rIns="0" bIns="0" rtlCol="0" anchor="t"/>
          <a:lstStyle/>
          <a:p>
            <a:pPr marL="0" indent="0">
              <a:buNone/>
            </a:pPr>
            <a:r>
              <a:rPr lang="en-US" sz="1800" b="1" dirty="0">
                <a:solidFill>
                  <a:schemeClr val="bg1"/>
                </a:solidFill>
              </a:rPr>
              <a:t>WalletService</a:t>
            </a:r>
            <a:endParaRPr lang="en-US" sz="1800" dirty="0"/>
          </a:p>
        </p:txBody>
      </p:sp>
      <p:sp>
        <p:nvSpPr>
          <p:cNvPr id="30" name="Text 28"/>
          <p:cNvSpPr txBox="1"/>
          <p:nvPr/>
        </p:nvSpPr>
        <p:spPr>
          <a:xfrm>
            <a:off x="6364224" y="3200400"/>
            <a:ext cx="2194560" cy="274320"/>
          </a:xfrm>
          <a:prstGeom prst="rect">
            <a:avLst/>
          </a:prstGeom>
          <a:noFill/>
          <a:ln/>
        </p:spPr>
        <p:txBody>
          <a:bodyPr wrap="square" lIns="0" tIns="0" rIns="0" bIns="0" rtlCol="0" anchor="t"/>
          <a:lstStyle/>
          <a:p>
            <a:pPr marL="0" indent="0">
              <a:buNone/>
            </a:pPr>
            <a:r>
              <a:rPr lang="en-US" sz="1400" b="1" dirty="0">
                <a:solidFill>
                  <a:schemeClr val="accent1"/>
                </a:solidFill>
              </a:rPr>
              <a:t>:8083</a:t>
            </a:r>
            <a:endParaRPr lang="en-US" sz="1400" dirty="0"/>
          </a:p>
        </p:txBody>
      </p:sp>
      <p:sp>
        <p:nvSpPr>
          <p:cNvPr id="31" name="Text 29"/>
          <p:cNvSpPr txBox="1"/>
          <p:nvPr/>
        </p:nvSpPr>
        <p:spPr>
          <a:xfrm>
            <a:off x="6364224" y="3520440"/>
            <a:ext cx="2194560" cy="274320"/>
          </a:xfrm>
          <a:prstGeom prst="rect">
            <a:avLst/>
          </a:prstGeom>
          <a:noFill/>
          <a:ln/>
        </p:spPr>
        <p:txBody>
          <a:bodyPr wrap="square" lIns="0" tIns="0" rIns="0" bIns="0" rtlCol="0" anchor="t"/>
          <a:lstStyle/>
          <a:p>
            <a:pPr marL="0" indent="0">
              <a:buNone/>
            </a:pPr>
            <a:r>
              <a:rPr lang="en-US" sz="1400" dirty="0">
                <a:solidFill>
                  <a:schemeClr val="bg2"/>
                </a:solidFill>
              </a:rPr>
              <a:t>Ledger and payments</a:t>
            </a:r>
            <a:endParaRPr lang="en-US" sz="1400" dirty="0"/>
          </a:p>
        </p:txBody>
      </p:sp>
      <p:sp>
        <p:nvSpPr>
          <p:cNvPr id="32" name="Text 30"/>
          <p:cNvSpPr txBox="1"/>
          <p:nvPr/>
        </p:nvSpPr>
        <p:spPr>
          <a:xfrm>
            <a:off x="6364224" y="3931920"/>
            <a:ext cx="2194560" cy="22860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ridemesh_wallet_db</a:t>
            </a:r>
            <a:endParaRPr lang="en-US" sz="1200" dirty="0"/>
          </a:p>
        </p:txBody>
      </p:sp>
      <p:sp>
        <p:nvSpPr>
          <p:cNvPr id="33" name="Shape 31"/>
          <p:cNvSpPr/>
          <p:nvPr/>
        </p:nvSpPr>
        <p:spPr>
          <a:xfrm>
            <a:off x="7461504" y="4297680"/>
            <a:ext cx="0" cy="548640"/>
          </a:xfrm>
          <a:prstGeom prst="line">
            <a:avLst/>
          </a:prstGeom>
          <a:noFill/>
          <a:ln w="19050">
            <a:solidFill>
              <a:schemeClr val="accent3"/>
            </a:solidFill>
            <a:prstDash val="solid"/>
          </a:ln>
        </p:spPr>
      </p:sp>
      <p:sp>
        <p:nvSpPr>
          <p:cNvPr id="34" name="Shape 32"/>
          <p:cNvSpPr/>
          <p:nvPr/>
        </p:nvSpPr>
        <p:spPr>
          <a:xfrm>
            <a:off x="10232136" y="2468880"/>
            <a:ext cx="0" cy="228600"/>
          </a:xfrm>
          <a:prstGeom prst="line">
            <a:avLst/>
          </a:prstGeom>
          <a:noFill/>
          <a:ln w="19050">
            <a:solidFill>
              <a:schemeClr val="accent3"/>
            </a:solidFill>
            <a:prstDash val="solid"/>
          </a:ln>
        </p:spPr>
      </p:sp>
      <p:sp>
        <p:nvSpPr>
          <p:cNvPr id="35" name="NotifyService"/>
          <p:cNvSpPr/>
          <p:nvPr/>
        </p:nvSpPr>
        <p:spPr>
          <a:xfrm>
            <a:off x="8951976" y="2697480"/>
            <a:ext cx="2560320" cy="1600200"/>
          </a:xfrm>
          <a:prstGeom prst="roundRect">
            <a:avLst>
              <a:gd name="adj" fmla="val 6857"/>
            </a:avLst>
          </a:prstGeom>
          <a:solidFill>
            <a:schemeClr val="tx2"/>
          </a:solidFill>
          <a:ln w="12700">
            <a:solidFill>
              <a:schemeClr val="accent2"/>
            </a:solidFill>
            <a:prstDash val="solid"/>
          </a:ln>
        </p:spPr>
      </p:sp>
      <p:sp>
        <p:nvSpPr>
          <p:cNvPr id="36" name="Text 34"/>
          <p:cNvSpPr txBox="1"/>
          <p:nvPr/>
        </p:nvSpPr>
        <p:spPr>
          <a:xfrm>
            <a:off x="9134856" y="2834640"/>
            <a:ext cx="2194560" cy="320040"/>
          </a:xfrm>
          <a:prstGeom prst="rect">
            <a:avLst/>
          </a:prstGeom>
          <a:noFill/>
          <a:ln/>
        </p:spPr>
        <p:txBody>
          <a:bodyPr wrap="square" lIns="0" tIns="0" rIns="0" bIns="0" rtlCol="0" anchor="t"/>
          <a:lstStyle/>
          <a:p>
            <a:pPr marL="0" indent="0">
              <a:buNone/>
            </a:pPr>
            <a:r>
              <a:rPr lang="en-US" sz="1800" b="1" dirty="0">
                <a:solidFill>
                  <a:schemeClr val="bg1"/>
                </a:solidFill>
              </a:rPr>
              <a:t>NotifyService</a:t>
            </a:r>
            <a:endParaRPr lang="en-US" sz="1800" dirty="0"/>
          </a:p>
        </p:txBody>
      </p:sp>
      <p:sp>
        <p:nvSpPr>
          <p:cNvPr id="37" name="Text 35"/>
          <p:cNvSpPr txBox="1"/>
          <p:nvPr/>
        </p:nvSpPr>
        <p:spPr>
          <a:xfrm>
            <a:off x="9134856" y="3200400"/>
            <a:ext cx="2194560" cy="274320"/>
          </a:xfrm>
          <a:prstGeom prst="rect">
            <a:avLst/>
          </a:prstGeom>
          <a:noFill/>
          <a:ln/>
        </p:spPr>
        <p:txBody>
          <a:bodyPr wrap="square" lIns="0" tIns="0" rIns="0" bIns="0" rtlCol="0" anchor="t"/>
          <a:lstStyle/>
          <a:p>
            <a:pPr marL="0" indent="0">
              <a:buNone/>
            </a:pPr>
            <a:r>
              <a:rPr lang="en-US" sz="1400" b="1" dirty="0">
                <a:solidFill>
                  <a:schemeClr val="accent1"/>
                </a:solidFill>
              </a:rPr>
              <a:t>:8084</a:t>
            </a:r>
            <a:endParaRPr lang="en-US" sz="1400" dirty="0"/>
          </a:p>
        </p:txBody>
      </p:sp>
      <p:sp>
        <p:nvSpPr>
          <p:cNvPr id="38" name="Text 36"/>
          <p:cNvSpPr txBox="1"/>
          <p:nvPr/>
        </p:nvSpPr>
        <p:spPr>
          <a:xfrm>
            <a:off x="9134856" y="3520440"/>
            <a:ext cx="2194560" cy="274320"/>
          </a:xfrm>
          <a:prstGeom prst="rect">
            <a:avLst/>
          </a:prstGeom>
          <a:noFill/>
          <a:ln/>
        </p:spPr>
        <p:txBody>
          <a:bodyPr wrap="square" lIns="0" tIns="0" rIns="0" bIns="0" rtlCol="0" anchor="t"/>
          <a:lstStyle/>
          <a:p>
            <a:pPr marL="0" indent="0">
              <a:buNone/>
            </a:pPr>
            <a:r>
              <a:rPr lang="en-US" sz="1400" dirty="0">
                <a:solidFill>
                  <a:schemeClr val="bg2"/>
                </a:solidFill>
              </a:rPr>
              <a:t>Email alerts</a:t>
            </a:r>
            <a:endParaRPr lang="en-US" sz="1400" dirty="0"/>
          </a:p>
        </p:txBody>
      </p:sp>
      <p:sp>
        <p:nvSpPr>
          <p:cNvPr id="39" name="Text 37"/>
          <p:cNvSpPr txBox="1"/>
          <p:nvPr/>
        </p:nvSpPr>
        <p:spPr>
          <a:xfrm>
            <a:off x="9134856" y="3931920"/>
            <a:ext cx="2194560" cy="22860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notify_db</a:t>
            </a:r>
            <a:endParaRPr lang="en-US" sz="1200" dirty="0"/>
          </a:p>
        </p:txBody>
      </p:sp>
      <p:sp>
        <p:nvSpPr>
          <p:cNvPr id="40" name="Shape 38"/>
          <p:cNvSpPr/>
          <p:nvPr/>
        </p:nvSpPr>
        <p:spPr>
          <a:xfrm>
            <a:off x="10232136" y="4297680"/>
            <a:ext cx="0" cy="548640"/>
          </a:xfrm>
          <a:prstGeom prst="line">
            <a:avLst/>
          </a:prstGeom>
          <a:noFill/>
          <a:ln w="19050">
            <a:solidFill>
              <a:schemeClr val="accent3"/>
            </a:solidFill>
            <a:prstDash val="solid"/>
          </a:ln>
        </p:spPr>
      </p:sp>
      <p:sp>
        <p:nvSpPr>
          <p:cNvPr id="41" name="Kafka bus"/>
          <p:cNvSpPr/>
          <p:nvPr/>
        </p:nvSpPr>
        <p:spPr>
          <a:xfrm>
            <a:off x="640080" y="4846320"/>
            <a:ext cx="10872216" cy="548640"/>
          </a:xfrm>
          <a:prstGeom prst="roundRect">
            <a:avLst>
              <a:gd name="adj" fmla="val 20000"/>
            </a:avLst>
          </a:prstGeom>
          <a:solidFill>
            <a:schemeClr val="accent1"/>
          </a:solidFill>
          <a:ln w="12700">
            <a:solidFill>
              <a:schemeClr val="accent1"/>
            </a:solidFill>
            <a:prstDash val="solid"/>
          </a:ln>
        </p:spPr>
      </p:sp>
      <p:sp>
        <p:nvSpPr>
          <p:cNvPr id="42" name="Text 40"/>
          <p:cNvSpPr txBox="1"/>
          <p:nvPr/>
        </p:nvSpPr>
        <p:spPr>
          <a:xfrm>
            <a:off x="640080" y="4846320"/>
            <a:ext cx="10872216" cy="548640"/>
          </a:xfrm>
          <a:prstGeom prst="rect">
            <a:avLst/>
          </a:prstGeom>
          <a:noFill/>
          <a:ln/>
        </p:spPr>
        <p:txBody>
          <a:bodyPr wrap="square" lIns="0" tIns="0" rIns="0" bIns="0" rtlCol="0" anchor="ctr"/>
          <a:lstStyle/>
          <a:p>
            <a:pPr marL="0" indent="0" algn="ctr">
              <a:buNone/>
            </a:pPr>
            <a:r>
              <a:rPr lang="en-US" sz="1600" b="1" kern="0" spc="300" dirty="0">
                <a:solidFill>
                  <a:schemeClr val="tx1"/>
                </a:solidFill>
              </a:rPr>
              <a:t>APACHE KAFKA  ·  8 TOPICS</a:t>
            </a:r>
            <a:endParaRPr lang="en-US" sz="1600" dirty="0"/>
          </a:p>
        </p:txBody>
      </p:sp>
      <p:sp>
        <p:nvSpPr>
          <p:cNvPr id="43" name="Text 41"/>
          <p:cNvSpPr txBox="1"/>
          <p:nvPr/>
        </p:nvSpPr>
        <p:spPr>
          <a:xfrm>
            <a:off x="640080" y="5669280"/>
            <a:ext cx="10872216" cy="365760"/>
          </a:xfrm>
          <a:prstGeom prst="rect">
            <a:avLst/>
          </a:prstGeom>
          <a:noFill/>
          <a:ln/>
        </p:spPr>
        <p:txBody>
          <a:bodyPr wrap="square" lIns="0" tIns="0" rIns="0" bIns="0" rtlCol="0" anchor="t"/>
          <a:lstStyle/>
          <a:p>
            <a:pPr marL="0" indent="0">
              <a:buNone/>
            </a:pPr>
            <a:r>
              <a:rPr lang="en-US" sz="1400" dirty="0">
                <a:solidFill>
                  <a:schemeClr val="bg2"/>
                </a:solidFill>
              </a:rPr>
              <a:t>The gateway validates the JWT once. Services trust the forwarded user headers.</a:t>
            </a:r>
            <a:endParaRPr lang="en-US" sz="1400" dirty="0"/>
          </a:p>
        </p:txBody>
      </p:sp>
      <p:sp>
        <p:nvSpPr>
          <p:cNvPr id="44"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A ride ends. Three services react.</a:t>
            </a:r>
            <a:endParaRPr lang="en-US" sz="3600" dirty="0"/>
          </a:p>
        </p:txBody>
      </p:sp>
      <p:sp>
        <p:nvSpPr>
          <p:cNvPr id="3" name="RideService"/>
          <p:cNvSpPr/>
          <p:nvPr/>
        </p:nvSpPr>
        <p:spPr>
          <a:xfrm>
            <a:off x="640080" y="2971800"/>
            <a:ext cx="2743200" cy="1554480"/>
          </a:xfrm>
          <a:prstGeom prst="roundRect">
            <a:avLst>
              <a:gd name="adj" fmla="val 7059"/>
            </a:avLst>
          </a:prstGeom>
          <a:solidFill>
            <a:schemeClr val="accent1"/>
          </a:solidFill>
          <a:ln w="12700">
            <a:solidFill>
              <a:schemeClr val="accent1"/>
            </a:solidFill>
            <a:prstDash val="solid"/>
          </a:ln>
        </p:spPr>
      </p:sp>
      <p:sp>
        <p:nvSpPr>
          <p:cNvPr id="4" name="Text 2"/>
          <p:cNvSpPr txBox="1"/>
          <p:nvPr/>
        </p:nvSpPr>
        <p:spPr>
          <a:xfrm>
            <a:off x="640080" y="2971800"/>
            <a:ext cx="2743200" cy="1554480"/>
          </a:xfrm>
          <a:prstGeom prst="rect">
            <a:avLst/>
          </a:prstGeom>
          <a:noFill/>
          <a:ln/>
        </p:spPr>
        <p:txBody>
          <a:bodyPr wrap="square" lIns="0" tIns="0" rIns="0" bIns="0" rtlCol="0" anchor="ctr"/>
          <a:lstStyle/>
          <a:p>
            <a:pPr marL="0" indent="0" algn="ctr">
              <a:buNone/>
            </a:pPr>
            <a:r>
              <a:rPr lang="en-US" sz="2200" b="1" dirty="0">
                <a:solidFill>
                  <a:schemeClr val="tx1"/>
                </a:solidFill>
              </a:rPr>
              <a:t>RideService</a:t>
            </a:r>
            <a:endParaRPr lang="en-US" sz="2200" dirty="0"/>
          </a:p>
        </p:txBody>
      </p:sp>
      <p:sp>
        <p:nvSpPr>
          <p:cNvPr id="5" name="Shape 3"/>
          <p:cNvSpPr/>
          <p:nvPr/>
        </p:nvSpPr>
        <p:spPr>
          <a:xfrm>
            <a:off x="3383280" y="3749040"/>
            <a:ext cx="731520" cy="0"/>
          </a:xfrm>
          <a:prstGeom prst="line">
            <a:avLst/>
          </a:prstGeom>
          <a:noFill/>
          <a:ln w="19050">
            <a:solidFill>
              <a:schemeClr val="accent3"/>
            </a:solidFill>
            <a:prstDash val="solid"/>
            <a:tailEnd type="triangle"/>
          </a:ln>
        </p:spPr>
      </p:sp>
      <p:sp>
        <p:nvSpPr>
          <p:cNvPr id="6" name="Event"/>
          <p:cNvSpPr/>
          <p:nvPr/>
        </p:nvSpPr>
        <p:spPr>
          <a:xfrm>
            <a:off x="4114800" y="3337560"/>
            <a:ext cx="2194560" cy="822960"/>
          </a:xfrm>
          <a:prstGeom prst="roundRect">
            <a:avLst>
              <a:gd name="adj" fmla="val 13333"/>
            </a:avLst>
          </a:prstGeom>
          <a:solidFill>
            <a:schemeClr val="tx1"/>
          </a:solidFill>
          <a:ln w="19050">
            <a:solidFill>
              <a:schemeClr val="accent1"/>
            </a:solidFill>
            <a:prstDash val="solid"/>
          </a:ln>
        </p:spPr>
      </p:sp>
      <p:sp>
        <p:nvSpPr>
          <p:cNvPr id="7" name="Text 5"/>
          <p:cNvSpPr txBox="1"/>
          <p:nvPr/>
        </p:nvSpPr>
        <p:spPr>
          <a:xfrm>
            <a:off x="4114800" y="3337560"/>
            <a:ext cx="2194560" cy="822960"/>
          </a:xfrm>
          <a:prstGeom prst="rect">
            <a:avLst/>
          </a:prstGeom>
          <a:noFill/>
          <a:ln/>
        </p:spPr>
        <p:txBody>
          <a:bodyPr wrap="square" lIns="0" tIns="0" rIns="0" bIns="0" rtlCol="0" anchor="ctr"/>
          <a:lstStyle/>
          <a:p>
            <a:pPr marL="0" indent="0" algn="ctr">
              <a:buNone/>
            </a:pPr>
            <a:r>
              <a:rPr lang="en-US" sz="1400" b="1" dirty="0">
                <a:solidFill>
                  <a:schemeClr val="accent1"/>
                </a:solidFill>
                <a:latin typeface="Courier New" pitchFamily="34" charset="0"/>
                <a:ea typeface="Courier New" pitchFamily="34" charset="-122"/>
                <a:cs typeface="Courier New" pitchFamily="34" charset="-120"/>
              </a:rPr>
              <a:t>ride-ended-event</a:t>
            </a:r>
            <a:endParaRPr lang="en-US" sz="1400" dirty="0"/>
          </a:p>
        </p:txBody>
      </p:sp>
      <p:sp>
        <p:nvSpPr>
          <p:cNvPr id="8" name="Shape 6"/>
          <p:cNvSpPr/>
          <p:nvPr/>
        </p:nvSpPr>
        <p:spPr>
          <a:xfrm flipV="1">
            <a:off x="6309360" y="2331720"/>
            <a:ext cx="1005840" cy="1417320"/>
          </a:xfrm>
          <a:prstGeom prst="line">
            <a:avLst/>
          </a:prstGeom>
          <a:noFill/>
          <a:ln w="19050">
            <a:solidFill>
              <a:schemeClr val="accent3"/>
            </a:solidFill>
            <a:prstDash val="solid"/>
            <a:tailEnd type="triangle"/>
          </a:ln>
        </p:spPr>
      </p:sp>
      <p:sp>
        <p:nvSpPr>
          <p:cNvPr id="9" name="Shape 7"/>
          <p:cNvSpPr/>
          <p:nvPr/>
        </p:nvSpPr>
        <p:spPr>
          <a:xfrm>
            <a:off x="6309360" y="3749040"/>
            <a:ext cx="1005840" cy="0"/>
          </a:xfrm>
          <a:prstGeom prst="line">
            <a:avLst/>
          </a:prstGeom>
          <a:noFill/>
          <a:ln w="19050">
            <a:solidFill>
              <a:schemeClr val="accent3"/>
            </a:solidFill>
            <a:prstDash val="solid"/>
            <a:tailEnd type="triangle"/>
          </a:ln>
        </p:spPr>
      </p:sp>
      <p:sp>
        <p:nvSpPr>
          <p:cNvPr id="10" name="Shape 8"/>
          <p:cNvSpPr/>
          <p:nvPr/>
        </p:nvSpPr>
        <p:spPr>
          <a:xfrm>
            <a:off x="6309360" y="3749040"/>
            <a:ext cx="1005840" cy="1417320"/>
          </a:xfrm>
          <a:prstGeom prst="line">
            <a:avLst/>
          </a:prstGeom>
          <a:noFill/>
          <a:ln w="19050">
            <a:solidFill>
              <a:schemeClr val="accent3"/>
            </a:solidFill>
            <a:prstDash val="solid"/>
            <a:tailEnd type="triangle"/>
          </a:ln>
        </p:spPr>
      </p:sp>
      <p:sp>
        <p:nvSpPr>
          <p:cNvPr id="11" name="WalletService"/>
          <p:cNvSpPr/>
          <p:nvPr/>
        </p:nvSpPr>
        <p:spPr>
          <a:xfrm>
            <a:off x="7315200" y="1737360"/>
            <a:ext cx="4206240" cy="1188720"/>
          </a:xfrm>
          <a:prstGeom prst="roundRect">
            <a:avLst>
              <a:gd name="adj" fmla="val 9231"/>
            </a:avLst>
          </a:prstGeom>
          <a:solidFill>
            <a:schemeClr val="tx2"/>
          </a:solidFill>
          <a:ln w="12700">
            <a:solidFill>
              <a:schemeClr val="accent2"/>
            </a:solidFill>
            <a:prstDash val="solid"/>
          </a:ln>
        </p:spPr>
      </p:sp>
      <p:sp>
        <p:nvSpPr>
          <p:cNvPr id="12" name="Text 10"/>
          <p:cNvSpPr txBox="1"/>
          <p:nvPr/>
        </p:nvSpPr>
        <p:spPr>
          <a:xfrm>
            <a:off x="7543800" y="1920240"/>
            <a:ext cx="3840480" cy="365760"/>
          </a:xfrm>
          <a:prstGeom prst="rect">
            <a:avLst/>
          </a:prstGeom>
          <a:noFill/>
          <a:ln/>
        </p:spPr>
        <p:txBody>
          <a:bodyPr wrap="square" lIns="0" tIns="0" rIns="0" bIns="0" rtlCol="0" anchor="t"/>
          <a:lstStyle/>
          <a:p>
            <a:pPr marL="0" indent="0">
              <a:buNone/>
            </a:pPr>
            <a:r>
              <a:rPr lang="en-US" sz="2000" b="1" dirty="0">
                <a:solidFill>
                  <a:schemeClr val="bg1"/>
                </a:solidFill>
              </a:rPr>
              <a:t>WalletService</a:t>
            </a:r>
            <a:endParaRPr lang="en-US" sz="2000" dirty="0"/>
          </a:p>
        </p:txBody>
      </p:sp>
      <p:sp>
        <p:nvSpPr>
          <p:cNvPr id="13" name="Text 11"/>
          <p:cNvSpPr txBox="1"/>
          <p:nvPr/>
        </p:nvSpPr>
        <p:spPr>
          <a:xfrm>
            <a:off x="7543800" y="2359152"/>
            <a:ext cx="3840480" cy="411480"/>
          </a:xfrm>
          <a:prstGeom prst="rect">
            <a:avLst/>
          </a:prstGeom>
          <a:noFill/>
          <a:ln/>
        </p:spPr>
        <p:txBody>
          <a:bodyPr wrap="square" lIns="0" tIns="0" rIns="0" bIns="0" rtlCol="0" anchor="t"/>
          <a:lstStyle/>
          <a:p>
            <a:pPr marL="0" indent="0">
              <a:buNone/>
            </a:pPr>
            <a:r>
              <a:rPr lang="en-US" sz="1400" dirty="0">
                <a:solidFill>
                  <a:schemeClr val="bg2"/>
                </a:solidFill>
              </a:rPr>
              <a:t>Debit rider, take 30% fee, credit driver</a:t>
            </a:r>
            <a:endParaRPr lang="en-US" sz="1400" dirty="0"/>
          </a:p>
        </p:txBody>
      </p:sp>
      <p:sp>
        <p:nvSpPr>
          <p:cNvPr id="14" name="UserService"/>
          <p:cNvSpPr/>
          <p:nvPr/>
        </p:nvSpPr>
        <p:spPr>
          <a:xfrm>
            <a:off x="7315200" y="3154680"/>
            <a:ext cx="4206240" cy="1188720"/>
          </a:xfrm>
          <a:prstGeom prst="roundRect">
            <a:avLst>
              <a:gd name="adj" fmla="val 9231"/>
            </a:avLst>
          </a:prstGeom>
          <a:solidFill>
            <a:schemeClr val="tx2"/>
          </a:solidFill>
          <a:ln w="12700">
            <a:solidFill>
              <a:schemeClr val="accent2"/>
            </a:solidFill>
            <a:prstDash val="solid"/>
          </a:ln>
        </p:spPr>
      </p:sp>
      <p:sp>
        <p:nvSpPr>
          <p:cNvPr id="15" name="Text 13"/>
          <p:cNvSpPr txBox="1"/>
          <p:nvPr/>
        </p:nvSpPr>
        <p:spPr>
          <a:xfrm>
            <a:off x="7543800" y="3337560"/>
            <a:ext cx="3840480" cy="365760"/>
          </a:xfrm>
          <a:prstGeom prst="rect">
            <a:avLst/>
          </a:prstGeom>
          <a:noFill/>
          <a:ln/>
        </p:spPr>
        <p:txBody>
          <a:bodyPr wrap="square" lIns="0" tIns="0" rIns="0" bIns="0" rtlCol="0" anchor="t"/>
          <a:lstStyle/>
          <a:p>
            <a:pPr marL="0" indent="0">
              <a:buNone/>
            </a:pPr>
            <a:r>
              <a:rPr lang="en-US" sz="2000" b="1" dirty="0">
                <a:solidFill>
                  <a:schemeClr val="bg1"/>
                </a:solidFill>
              </a:rPr>
              <a:t>UserService</a:t>
            </a:r>
            <a:endParaRPr lang="en-US" sz="2000" dirty="0"/>
          </a:p>
        </p:txBody>
      </p:sp>
      <p:sp>
        <p:nvSpPr>
          <p:cNvPr id="16" name="Text 14"/>
          <p:cNvSpPr txBox="1"/>
          <p:nvPr/>
        </p:nvSpPr>
        <p:spPr>
          <a:xfrm>
            <a:off x="7543800" y="3776472"/>
            <a:ext cx="3840480" cy="411480"/>
          </a:xfrm>
          <a:prstGeom prst="rect">
            <a:avLst/>
          </a:prstGeom>
          <a:noFill/>
          <a:ln/>
        </p:spPr>
        <p:txBody>
          <a:bodyPr wrap="square" lIns="0" tIns="0" rIns="0" bIns="0" rtlCol="0" anchor="t"/>
          <a:lstStyle/>
          <a:p>
            <a:pPr marL="0" indent="0">
              <a:buNone/>
            </a:pPr>
            <a:r>
              <a:rPr lang="en-US" sz="1400" dirty="0">
                <a:solidFill>
                  <a:schemeClr val="bg2"/>
                </a:solidFill>
              </a:rPr>
              <a:t>Driver available again, rating stub created</a:t>
            </a:r>
            <a:endParaRPr lang="en-US" sz="1400" dirty="0"/>
          </a:p>
        </p:txBody>
      </p:sp>
      <p:sp>
        <p:nvSpPr>
          <p:cNvPr id="17" name="NotifyService"/>
          <p:cNvSpPr/>
          <p:nvPr/>
        </p:nvSpPr>
        <p:spPr>
          <a:xfrm>
            <a:off x="7315200" y="4572000"/>
            <a:ext cx="4206240" cy="1188720"/>
          </a:xfrm>
          <a:prstGeom prst="roundRect">
            <a:avLst>
              <a:gd name="adj" fmla="val 9231"/>
            </a:avLst>
          </a:prstGeom>
          <a:solidFill>
            <a:schemeClr val="tx2"/>
          </a:solidFill>
          <a:ln w="12700">
            <a:solidFill>
              <a:schemeClr val="accent2"/>
            </a:solidFill>
            <a:prstDash val="solid"/>
          </a:ln>
        </p:spPr>
      </p:sp>
      <p:sp>
        <p:nvSpPr>
          <p:cNvPr id="18" name="Text 16"/>
          <p:cNvSpPr txBox="1"/>
          <p:nvPr/>
        </p:nvSpPr>
        <p:spPr>
          <a:xfrm>
            <a:off x="7543800" y="4754880"/>
            <a:ext cx="3840480" cy="365760"/>
          </a:xfrm>
          <a:prstGeom prst="rect">
            <a:avLst/>
          </a:prstGeom>
          <a:noFill/>
          <a:ln/>
        </p:spPr>
        <p:txBody>
          <a:bodyPr wrap="square" lIns="0" tIns="0" rIns="0" bIns="0" rtlCol="0" anchor="t"/>
          <a:lstStyle/>
          <a:p>
            <a:pPr marL="0" indent="0">
              <a:buNone/>
            </a:pPr>
            <a:r>
              <a:rPr lang="en-US" sz="2000" b="1" dirty="0">
                <a:solidFill>
                  <a:schemeClr val="bg1"/>
                </a:solidFill>
              </a:rPr>
              <a:t>NotifyService</a:t>
            </a:r>
            <a:endParaRPr lang="en-US" sz="2000" dirty="0"/>
          </a:p>
        </p:txBody>
      </p:sp>
      <p:sp>
        <p:nvSpPr>
          <p:cNvPr id="19" name="Text 17"/>
          <p:cNvSpPr txBox="1"/>
          <p:nvPr/>
        </p:nvSpPr>
        <p:spPr>
          <a:xfrm>
            <a:off x="7543800" y="5193792"/>
            <a:ext cx="3840480" cy="411480"/>
          </a:xfrm>
          <a:prstGeom prst="rect">
            <a:avLst/>
          </a:prstGeom>
          <a:noFill/>
          <a:ln/>
        </p:spPr>
        <p:txBody>
          <a:bodyPr wrap="square" lIns="0" tIns="0" rIns="0" bIns="0" rtlCol="0" anchor="t"/>
          <a:lstStyle/>
          <a:p>
            <a:pPr marL="0" indent="0">
              <a:buNone/>
            </a:pPr>
            <a:r>
              <a:rPr lang="en-US" sz="1400" dirty="0">
                <a:solidFill>
                  <a:schemeClr val="bg2"/>
                </a:solidFill>
              </a:rPr>
              <a:t>Receipt email, duplicates blocked by eventId</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Patterns that keep it decoupled</a:t>
            </a:r>
            <a:endParaRPr lang="en-US" sz="3600" dirty="0"/>
          </a:p>
        </p:txBody>
      </p:sp>
      <p:sp>
        <p:nvSpPr>
          <p:cNvPr id="3" name="Gateway offloading"/>
          <p:cNvSpPr/>
          <p:nvPr/>
        </p:nvSpPr>
        <p:spPr>
          <a:xfrm>
            <a:off x="640080" y="1737360"/>
            <a:ext cx="3474720" cy="4023360"/>
          </a:xfrm>
          <a:prstGeom prst="roundRect">
            <a:avLst>
              <a:gd name="adj" fmla="val 3158"/>
            </a:avLst>
          </a:prstGeom>
          <a:solidFill>
            <a:schemeClr val="tx2"/>
          </a:solidFill>
          <a:ln w="12700">
            <a:solidFill>
              <a:schemeClr val="accent2"/>
            </a:solidFill>
            <a:prstDash val="solid"/>
          </a:ln>
        </p:spPr>
      </p:sp>
      <p:sp>
        <p:nvSpPr>
          <p:cNvPr id="4" name="Text 2"/>
          <p:cNvSpPr txBox="1"/>
          <p:nvPr/>
        </p:nvSpPr>
        <p:spPr>
          <a:xfrm>
            <a:off x="960120" y="2011680"/>
            <a:ext cx="1828800" cy="822960"/>
          </a:xfrm>
          <a:prstGeom prst="rect">
            <a:avLst/>
          </a:prstGeom>
          <a:noFill/>
          <a:ln/>
        </p:spPr>
        <p:txBody>
          <a:bodyPr wrap="square" lIns="0" tIns="0" rIns="0" bIns="0" rtlCol="0" anchor="t"/>
          <a:lstStyle/>
          <a:p>
            <a:pPr marL="0" indent="0">
              <a:buNone/>
            </a:pPr>
            <a:r>
              <a:rPr lang="en-US" sz="4800" b="1" dirty="0">
                <a:solidFill>
                  <a:schemeClr val="accent1"/>
                </a:solidFill>
              </a:rPr>
              <a:t>01</a:t>
            </a:r>
            <a:endParaRPr lang="en-US" sz="4800" dirty="0"/>
          </a:p>
        </p:txBody>
      </p:sp>
      <p:sp>
        <p:nvSpPr>
          <p:cNvPr id="5" name="Text 3"/>
          <p:cNvSpPr txBox="1"/>
          <p:nvPr/>
        </p:nvSpPr>
        <p:spPr>
          <a:xfrm>
            <a:off x="960120" y="3108960"/>
            <a:ext cx="2834640" cy="822960"/>
          </a:xfrm>
          <a:prstGeom prst="rect">
            <a:avLst/>
          </a:prstGeom>
          <a:noFill/>
          <a:ln/>
        </p:spPr>
        <p:txBody>
          <a:bodyPr wrap="square" lIns="0" tIns="0" rIns="0" bIns="0" rtlCol="0" anchor="t"/>
          <a:lstStyle/>
          <a:p>
            <a:pPr marL="0" indent="0">
              <a:buNone/>
            </a:pPr>
            <a:r>
              <a:rPr lang="en-US" sz="2200" b="1" dirty="0">
                <a:solidFill>
                  <a:schemeClr val="bg1"/>
                </a:solidFill>
              </a:rPr>
              <a:t>Gateway offloading</a:t>
            </a:r>
            <a:endParaRPr lang="en-US" sz="2200" dirty="0"/>
          </a:p>
        </p:txBody>
      </p:sp>
      <p:sp>
        <p:nvSpPr>
          <p:cNvPr id="6" name="Text 4"/>
          <p:cNvSpPr txBox="1"/>
          <p:nvPr/>
        </p:nvSpPr>
        <p:spPr>
          <a:xfrm>
            <a:off x="960120" y="4023360"/>
            <a:ext cx="2834640" cy="1371600"/>
          </a:xfrm>
          <a:prstGeom prst="rect">
            <a:avLst/>
          </a:prstGeom>
          <a:noFill/>
          <a:ln/>
        </p:spPr>
        <p:txBody>
          <a:bodyPr wrap="square" lIns="0" tIns="0" rIns="0" bIns="0" rtlCol="0" anchor="t"/>
          <a:lstStyle/>
          <a:p>
            <a:pPr marL="0" indent="0">
              <a:buNone/>
            </a:pPr>
            <a:r>
              <a:rPr lang="en-US" sz="1400" dirty="0">
                <a:solidFill>
                  <a:schemeClr val="bg2"/>
                </a:solidFill>
              </a:rPr>
              <a:t>JWT checked once at the edge. Services read X-User-Id and X-User-Roles.</a:t>
            </a:r>
            <a:endParaRPr lang="en-US" sz="1400" dirty="0"/>
          </a:p>
        </p:txBody>
      </p:sp>
      <p:sp>
        <p:nvSpPr>
          <p:cNvPr id="7" name="Strategy pattern"/>
          <p:cNvSpPr/>
          <p:nvPr/>
        </p:nvSpPr>
        <p:spPr>
          <a:xfrm>
            <a:off x="4325112" y="1737360"/>
            <a:ext cx="3474720" cy="4023360"/>
          </a:xfrm>
          <a:prstGeom prst="roundRect">
            <a:avLst>
              <a:gd name="adj" fmla="val 3158"/>
            </a:avLst>
          </a:prstGeom>
          <a:solidFill>
            <a:schemeClr val="tx2"/>
          </a:solidFill>
          <a:ln w="12700">
            <a:solidFill>
              <a:schemeClr val="accent2"/>
            </a:solidFill>
            <a:prstDash val="solid"/>
          </a:ln>
        </p:spPr>
      </p:sp>
      <p:sp>
        <p:nvSpPr>
          <p:cNvPr id="8" name="Text 6"/>
          <p:cNvSpPr txBox="1"/>
          <p:nvPr/>
        </p:nvSpPr>
        <p:spPr>
          <a:xfrm>
            <a:off x="4645152" y="2011680"/>
            <a:ext cx="1828800" cy="822960"/>
          </a:xfrm>
          <a:prstGeom prst="rect">
            <a:avLst/>
          </a:prstGeom>
          <a:noFill/>
          <a:ln/>
        </p:spPr>
        <p:txBody>
          <a:bodyPr wrap="square" lIns="0" tIns="0" rIns="0" bIns="0" rtlCol="0" anchor="t"/>
          <a:lstStyle/>
          <a:p>
            <a:pPr marL="0" indent="0">
              <a:buNone/>
            </a:pPr>
            <a:r>
              <a:rPr lang="en-US" sz="4800" b="1" dirty="0">
                <a:solidFill>
                  <a:schemeClr val="accent1"/>
                </a:solidFill>
              </a:rPr>
              <a:t>02</a:t>
            </a:r>
            <a:endParaRPr lang="en-US" sz="4800" dirty="0"/>
          </a:p>
        </p:txBody>
      </p:sp>
      <p:sp>
        <p:nvSpPr>
          <p:cNvPr id="9" name="Text 7"/>
          <p:cNvSpPr txBox="1"/>
          <p:nvPr/>
        </p:nvSpPr>
        <p:spPr>
          <a:xfrm>
            <a:off x="4645152" y="3108960"/>
            <a:ext cx="2834640" cy="822960"/>
          </a:xfrm>
          <a:prstGeom prst="rect">
            <a:avLst/>
          </a:prstGeom>
          <a:noFill/>
          <a:ln/>
        </p:spPr>
        <p:txBody>
          <a:bodyPr wrap="square" lIns="0" tIns="0" rIns="0" bIns="0" rtlCol="0" anchor="t"/>
          <a:lstStyle/>
          <a:p>
            <a:pPr marL="0" indent="0">
              <a:buNone/>
            </a:pPr>
            <a:r>
              <a:rPr lang="en-US" sz="2200" b="1" dirty="0">
                <a:solidFill>
                  <a:schemeClr val="bg1"/>
                </a:solidFill>
              </a:rPr>
              <a:t>Strategy pattern</a:t>
            </a:r>
            <a:endParaRPr lang="en-US" sz="2200" dirty="0"/>
          </a:p>
        </p:txBody>
      </p:sp>
      <p:sp>
        <p:nvSpPr>
          <p:cNvPr id="10" name="Text 8"/>
          <p:cNvSpPr txBox="1"/>
          <p:nvPr/>
        </p:nvSpPr>
        <p:spPr>
          <a:xfrm>
            <a:off x="4645152" y="4023360"/>
            <a:ext cx="2834640" cy="1371600"/>
          </a:xfrm>
          <a:prstGeom prst="rect">
            <a:avLst/>
          </a:prstGeom>
          <a:noFill/>
          <a:ln/>
        </p:spPr>
        <p:txBody>
          <a:bodyPr wrap="square" lIns="0" tIns="0" rIns="0" bIns="0" rtlCol="0" anchor="t"/>
          <a:lstStyle/>
          <a:p>
            <a:pPr marL="0" indent="0">
              <a:buNone/>
            </a:pPr>
            <a:r>
              <a:rPr lang="en-US" sz="1400" dirty="0">
                <a:solidFill>
                  <a:schemeClr val="bg2"/>
                </a:solidFill>
              </a:rPr>
              <a:t>Swap fare, driver-matching and payment rules without touching core logic.</a:t>
            </a:r>
            <a:endParaRPr lang="en-US" sz="1400" dirty="0"/>
          </a:p>
        </p:txBody>
      </p:sp>
      <p:sp>
        <p:nvSpPr>
          <p:cNvPr id="11" name="Idempotency"/>
          <p:cNvSpPr/>
          <p:nvPr/>
        </p:nvSpPr>
        <p:spPr>
          <a:xfrm>
            <a:off x="8010144" y="1737360"/>
            <a:ext cx="3474720" cy="4023360"/>
          </a:xfrm>
          <a:prstGeom prst="roundRect">
            <a:avLst>
              <a:gd name="adj" fmla="val 3158"/>
            </a:avLst>
          </a:prstGeom>
          <a:solidFill>
            <a:schemeClr val="tx2"/>
          </a:solidFill>
          <a:ln w="12700">
            <a:solidFill>
              <a:schemeClr val="accent2"/>
            </a:solidFill>
            <a:prstDash val="solid"/>
          </a:ln>
        </p:spPr>
      </p:sp>
      <p:sp>
        <p:nvSpPr>
          <p:cNvPr id="12" name="Text 10"/>
          <p:cNvSpPr txBox="1"/>
          <p:nvPr/>
        </p:nvSpPr>
        <p:spPr>
          <a:xfrm>
            <a:off x="8330184" y="2011680"/>
            <a:ext cx="1828800" cy="822960"/>
          </a:xfrm>
          <a:prstGeom prst="rect">
            <a:avLst/>
          </a:prstGeom>
          <a:noFill/>
          <a:ln/>
        </p:spPr>
        <p:txBody>
          <a:bodyPr wrap="square" lIns="0" tIns="0" rIns="0" bIns="0" rtlCol="0" anchor="t"/>
          <a:lstStyle/>
          <a:p>
            <a:pPr marL="0" indent="0">
              <a:buNone/>
            </a:pPr>
            <a:r>
              <a:rPr lang="en-US" sz="4800" b="1" dirty="0">
                <a:solidFill>
                  <a:schemeClr val="accent1"/>
                </a:solidFill>
              </a:rPr>
              <a:t>03</a:t>
            </a:r>
            <a:endParaRPr lang="en-US" sz="4800" dirty="0"/>
          </a:p>
        </p:txBody>
      </p:sp>
      <p:sp>
        <p:nvSpPr>
          <p:cNvPr id="13" name="Text 11"/>
          <p:cNvSpPr txBox="1"/>
          <p:nvPr/>
        </p:nvSpPr>
        <p:spPr>
          <a:xfrm>
            <a:off x="8330184" y="3108960"/>
            <a:ext cx="2834640" cy="822960"/>
          </a:xfrm>
          <a:prstGeom prst="rect">
            <a:avLst/>
          </a:prstGeom>
          <a:noFill/>
          <a:ln/>
        </p:spPr>
        <p:txBody>
          <a:bodyPr wrap="square" lIns="0" tIns="0" rIns="0" bIns="0" rtlCol="0" anchor="t"/>
          <a:lstStyle/>
          <a:p>
            <a:pPr marL="0" indent="0">
              <a:buNone/>
            </a:pPr>
            <a:r>
              <a:rPr lang="en-US" sz="2200" b="1" dirty="0">
                <a:solidFill>
                  <a:schemeClr val="bg1"/>
                </a:solidFill>
              </a:rPr>
              <a:t>Idempotency</a:t>
            </a:r>
            <a:endParaRPr lang="en-US" sz="2200" dirty="0"/>
          </a:p>
        </p:txBody>
      </p:sp>
      <p:sp>
        <p:nvSpPr>
          <p:cNvPr id="14" name="Text 12"/>
          <p:cNvSpPr txBox="1"/>
          <p:nvPr/>
        </p:nvSpPr>
        <p:spPr>
          <a:xfrm>
            <a:off x="8330184" y="4023360"/>
            <a:ext cx="2834640" cy="1371600"/>
          </a:xfrm>
          <a:prstGeom prst="rect">
            <a:avLst/>
          </a:prstGeom>
          <a:noFill/>
          <a:ln/>
        </p:spPr>
        <p:txBody>
          <a:bodyPr wrap="square" lIns="0" tIns="0" rIns="0" bIns="0" rtlCol="0" anchor="t"/>
          <a:lstStyle/>
          <a:p>
            <a:pPr marL="0" indent="0">
              <a:buNone/>
            </a:pPr>
            <a:r>
              <a:rPr lang="en-US" sz="1400" dirty="0">
                <a:solidFill>
                  <a:schemeClr val="bg2"/>
                </a:solidFill>
              </a:rPr>
              <a:t>Unique ride id and eventId checks stop double billing and double emails.</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Real roads. Nearest drivers.</a:t>
            </a:r>
            <a:endParaRPr lang="en-US" sz="3600" dirty="0"/>
          </a:p>
        </p:txBody>
      </p:sp>
      <p:sp>
        <p:nvSpPr>
          <p:cNvPr id="3" name="Text 1"/>
          <p:cNvSpPr txBox="1"/>
          <p:nvPr/>
        </p:nvSpPr>
        <p:spPr>
          <a:xfrm>
            <a:off x="640080" y="1691640"/>
            <a:ext cx="4389120" cy="640080"/>
          </a:xfrm>
          <a:prstGeom prst="rect">
            <a:avLst/>
          </a:prstGeom>
          <a:noFill/>
          <a:ln/>
        </p:spPr>
        <p:txBody>
          <a:bodyPr wrap="square" lIns="0" tIns="0" rIns="0" bIns="0" rtlCol="0" anchor="ctr"/>
          <a:lstStyle/>
          <a:p>
            <a:pPr marL="0" indent="0">
              <a:buNone/>
            </a:pPr>
            <a:r>
              <a:rPr lang="en-US" sz="3200" b="1" dirty="0">
                <a:solidFill>
                  <a:schemeClr val="accent1"/>
                </a:solidFill>
              </a:rPr>
              <a:t>OSRM</a:t>
            </a:r>
            <a:endParaRPr lang="en-US" sz="3200" dirty="0"/>
          </a:p>
        </p:txBody>
      </p:sp>
      <p:sp>
        <p:nvSpPr>
          <p:cNvPr id="4" name="Text 2"/>
          <p:cNvSpPr txBox="1"/>
          <p:nvPr/>
        </p:nvSpPr>
        <p:spPr>
          <a:xfrm>
            <a:off x="640080" y="2377440"/>
            <a:ext cx="4389120" cy="457200"/>
          </a:xfrm>
          <a:prstGeom prst="rect">
            <a:avLst/>
          </a:prstGeom>
          <a:noFill/>
          <a:ln/>
        </p:spPr>
        <p:txBody>
          <a:bodyPr wrap="square" lIns="0" tIns="0" rIns="0" bIns="0" rtlCol="0" anchor="t"/>
          <a:lstStyle/>
          <a:p>
            <a:pPr marL="0" indent="0">
              <a:buNone/>
            </a:pPr>
            <a:r>
              <a:rPr lang="en-US" sz="1400" dirty="0">
                <a:solidFill>
                  <a:schemeClr val="bg2"/>
                </a:solidFill>
              </a:rPr>
              <a:t>Road distance, with a Haversine fallback</a:t>
            </a:r>
            <a:endParaRPr lang="en-US" sz="1400" dirty="0"/>
          </a:p>
        </p:txBody>
      </p:sp>
      <p:sp>
        <p:nvSpPr>
          <p:cNvPr id="5" name="Text 3"/>
          <p:cNvSpPr txBox="1"/>
          <p:nvPr/>
        </p:nvSpPr>
        <p:spPr>
          <a:xfrm>
            <a:off x="640080" y="3063240"/>
            <a:ext cx="4389120" cy="640080"/>
          </a:xfrm>
          <a:prstGeom prst="rect">
            <a:avLst/>
          </a:prstGeom>
          <a:noFill/>
          <a:ln/>
        </p:spPr>
        <p:txBody>
          <a:bodyPr wrap="square" lIns="0" tIns="0" rIns="0" bIns="0" rtlCol="0" anchor="ctr"/>
          <a:lstStyle/>
          <a:p>
            <a:pPr marL="0" indent="0">
              <a:buNone/>
            </a:pPr>
            <a:r>
              <a:rPr lang="en-US" sz="3200" b="1" dirty="0">
                <a:solidFill>
                  <a:schemeClr val="accent1"/>
                </a:solidFill>
              </a:rPr>
              <a:t>PostGIS</a:t>
            </a:r>
            <a:endParaRPr lang="en-US" sz="3200" dirty="0"/>
          </a:p>
        </p:txBody>
      </p:sp>
      <p:sp>
        <p:nvSpPr>
          <p:cNvPr id="6" name="Text 4"/>
          <p:cNvSpPr txBox="1"/>
          <p:nvPr/>
        </p:nvSpPr>
        <p:spPr>
          <a:xfrm>
            <a:off x="640080" y="3749040"/>
            <a:ext cx="4389120" cy="457200"/>
          </a:xfrm>
          <a:prstGeom prst="rect">
            <a:avLst/>
          </a:prstGeom>
          <a:noFill/>
          <a:ln/>
        </p:spPr>
        <p:txBody>
          <a:bodyPr wrap="square" lIns="0" tIns="0" rIns="0" bIns="0" rtlCol="0" anchor="t"/>
          <a:lstStyle/>
          <a:p>
            <a:pPr marL="0" indent="0">
              <a:buNone/>
            </a:pPr>
            <a:r>
              <a:rPr lang="en-US" sz="1400" dirty="0">
                <a:solidFill>
                  <a:schemeClr val="bg2"/>
                </a:solidFill>
              </a:rPr>
              <a:t>Nearest 50 drivers within 100 km</a:t>
            </a:r>
            <a:endParaRPr lang="en-US" sz="1400" dirty="0"/>
          </a:p>
        </p:txBody>
      </p:sp>
      <p:sp>
        <p:nvSpPr>
          <p:cNvPr id="7" name="Text 5"/>
          <p:cNvSpPr txBox="1"/>
          <p:nvPr/>
        </p:nvSpPr>
        <p:spPr>
          <a:xfrm>
            <a:off x="640080" y="4434840"/>
            <a:ext cx="4389120" cy="640080"/>
          </a:xfrm>
          <a:prstGeom prst="rect">
            <a:avLst/>
          </a:prstGeom>
          <a:noFill/>
          <a:ln/>
        </p:spPr>
        <p:txBody>
          <a:bodyPr wrap="square" lIns="0" tIns="0" rIns="0" bIns="0" rtlCol="0" anchor="ctr"/>
          <a:lstStyle/>
          <a:p>
            <a:pPr marL="0" indent="0">
              <a:buNone/>
            </a:pPr>
            <a:r>
              <a:rPr lang="en-US" sz="3200" b="1" dirty="0">
                <a:solidFill>
                  <a:schemeClr val="accent1"/>
                </a:solidFill>
              </a:rPr>
              <a:t>4-digit OTP</a:t>
            </a:r>
            <a:endParaRPr lang="en-US" sz="3200" dirty="0"/>
          </a:p>
        </p:txBody>
      </p:sp>
      <p:sp>
        <p:nvSpPr>
          <p:cNvPr id="8" name="Text 6"/>
          <p:cNvSpPr txBox="1"/>
          <p:nvPr/>
        </p:nvSpPr>
        <p:spPr>
          <a:xfrm>
            <a:off x="640080" y="5120640"/>
            <a:ext cx="4389120" cy="457200"/>
          </a:xfrm>
          <a:prstGeom prst="rect">
            <a:avLst/>
          </a:prstGeom>
          <a:noFill/>
          <a:ln/>
        </p:spPr>
        <p:txBody>
          <a:bodyPr wrap="square" lIns="0" tIns="0" rIns="0" bIns="0" rtlCol="0" anchor="t"/>
          <a:lstStyle/>
          <a:p>
            <a:pPr marL="0" indent="0">
              <a:buNone/>
            </a:pPr>
            <a:r>
              <a:rPr lang="en-US" sz="1400" dirty="0">
                <a:solidFill>
                  <a:schemeClr val="bg2"/>
                </a:solidFill>
              </a:rPr>
              <a:t>SecureRandom handshake to start a ride</a:t>
            </a:r>
            <a:endParaRPr lang="en-US" sz="1400" dirty="0"/>
          </a:p>
        </p:txBody>
      </p:sp>
      <p:sp>
        <p:nvSpPr>
          <p:cNvPr id="9" name="Chart card"/>
          <p:cNvSpPr/>
          <p:nvPr/>
        </p:nvSpPr>
        <p:spPr>
          <a:xfrm>
            <a:off x="5669280" y="1554480"/>
            <a:ext cx="5852160" cy="4480560"/>
          </a:xfrm>
          <a:prstGeom prst="roundRect">
            <a:avLst>
              <a:gd name="adj" fmla="val 2449"/>
            </a:avLst>
          </a:prstGeom>
          <a:solidFill>
            <a:schemeClr val="tx2"/>
          </a:solidFill>
          <a:ln w="12700">
            <a:solidFill>
              <a:schemeClr val="accent2"/>
            </a:solidFill>
            <a:prstDash val="solid"/>
          </a:ln>
        </p:spPr>
      </p:sp>
      <p:sp>
        <p:nvSpPr>
          <p:cNvPr id="10" name="Text 8"/>
          <p:cNvSpPr txBox="1"/>
          <p:nvPr/>
        </p:nvSpPr>
        <p:spPr>
          <a:xfrm>
            <a:off x="5943600" y="1737360"/>
            <a:ext cx="5303520" cy="365760"/>
          </a:xfrm>
          <a:prstGeom prst="rect">
            <a:avLst/>
          </a:prstGeom>
          <a:noFill/>
          <a:ln/>
        </p:spPr>
        <p:txBody>
          <a:bodyPr wrap="square" lIns="0" tIns="0" rIns="0" bIns="0" rtlCol="0" anchor="t"/>
          <a:lstStyle/>
          <a:p>
            <a:pPr marL="0" indent="0">
              <a:buNone/>
            </a:pPr>
            <a:r>
              <a:rPr lang="en-US" sz="1600" b="1" dirty="0">
                <a:solidFill>
                  <a:schemeClr val="bg1"/>
                </a:solidFill>
              </a:rPr>
              <a:t>Base fare per km (₹)</a:t>
            </a:r>
            <a:endParaRPr lang="en-US" sz="1600" dirty="0"/>
          </a:p>
        </p:txBody>
      </p:sp>
      <p:graphicFrame>
        <p:nvGraphicFramePr>
          <p:cNvPr id="11" name="Chart 0"/>
          <p:cNvGraphicFramePr/>
          <p:nvPr/>
        </p:nvGraphicFramePr>
        <p:xfrm>
          <a:off x="5852160" y="219456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5943600" y="5532120"/>
            <a:ext cx="5303520" cy="320040"/>
          </a:xfrm>
          <a:prstGeom prst="rect">
            <a:avLst/>
          </a:prstGeom>
          <a:noFill/>
          <a:ln/>
        </p:spPr>
        <p:txBody>
          <a:bodyPr wrap="square" lIns="0" tIns="0" rIns="0" bIns="0" rtlCol="0" anchor="t"/>
          <a:lstStyle/>
          <a:p>
            <a:pPr marL="0" indent="0">
              <a:buNone/>
            </a:pPr>
            <a:r>
              <a:rPr lang="en-US" sz="1200" dirty="0">
                <a:solidFill>
                  <a:schemeClr val="bg2"/>
                </a:solidFill>
              </a:rPr>
              <a:t>Fare = distance × rate × surge (2.0× at peak)</a:t>
            </a:r>
            <a:endParaRPr lang="en-US" sz="12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Every fare, settled automatically</a:t>
            </a:r>
            <a:endParaRPr lang="en-US" sz="3600" dirty="0"/>
          </a:p>
        </p:txBody>
      </p:sp>
      <p:graphicFrame>
        <p:nvGraphicFramePr>
          <p:cNvPr id="3" name="Chart 0"/>
          <p:cNvGraphicFramePr/>
          <p:nvPr/>
        </p:nvGraphicFramePr>
        <p:xfrm>
          <a:off x="640080" y="1463040"/>
          <a:ext cx="47548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1737360" y="3246120"/>
            <a:ext cx="2560320" cy="1005840"/>
          </a:xfrm>
          <a:prstGeom prst="rect">
            <a:avLst/>
          </a:prstGeom>
          <a:noFill/>
          <a:ln/>
        </p:spPr>
        <p:txBody>
          <a:bodyPr wrap="square" lIns="0" tIns="0" rIns="0" bIns="0" rtlCol="0" anchor="ctr"/>
          <a:lstStyle/>
          <a:p>
            <a:pPr marL="0" indent="0" algn="ctr">
              <a:buNone/>
            </a:pPr>
            <a:r>
              <a:rPr lang="en-US" sz="4400" b="1" dirty="0">
                <a:solidFill>
                  <a:schemeClr val="bg1"/>
                </a:solidFill>
              </a:rPr>
              <a:t>70 / 30</a:t>
            </a:r>
            <a:endParaRPr lang="en-US" sz="4400" dirty="0"/>
          </a:p>
        </p:txBody>
      </p:sp>
      <p:sp>
        <p:nvSpPr>
          <p:cNvPr id="5" name="Text 2"/>
          <p:cNvSpPr txBox="1"/>
          <p:nvPr/>
        </p:nvSpPr>
        <p:spPr>
          <a:xfrm>
            <a:off x="6309360" y="1691640"/>
            <a:ext cx="2377440" cy="914400"/>
          </a:xfrm>
          <a:prstGeom prst="rect">
            <a:avLst/>
          </a:prstGeom>
          <a:noFill/>
          <a:ln/>
        </p:spPr>
        <p:txBody>
          <a:bodyPr wrap="square" lIns="0" tIns="0" rIns="0" bIns="0" rtlCol="0" anchor="ctr"/>
          <a:lstStyle/>
          <a:p>
            <a:pPr marL="0" indent="0">
              <a:buNone/>
            </a:pPr>
            <a:r>
              <a:rPr lang="en-US" sz="5400" b="1" dirty="0">
                <a:solidFill>
                  <a:schemeClr val="bg1"/>
                </a:solidFill>
              </a:rPr>
              <a:t>100%</a:t>
            </a:r>
            <a:endParaRPr lang="en-US" sz="5400" dirty="0"/>
          </a:p>
        </p:txBody>
      </p:sp>
      <p:sp>
        <p:nvSpPr>
          <p:cNvPr id="6" name="Text 3"/>
          <p:cNvSpPr txBox="1"/>
          <p:nvPr/>
        </p:nvSpPr>
        <p:spPr>
          <a:xfrm>
            <a:off x="8778240" y="1691640"/>
            <a:ext cx="2743200" cy="914400"/>
          </a:xfrm>
          <a:prstGeom prst="rect">
            <a:avLst/>
          </a:prstGeom>
          <a:noFill/>
          <a:ln/>
        </p:spPr>
        <p:txBody>
          <a:bodyPr wrap="square" lIns="0" tIns="0" rIns="0" bIns="0" rtlCol="0" anchor="ctr"/>
          <a:lstStyle/>
          <a:p>
            <a:pPr marL="0" indent="0">
              <a:buNone/>
            </a:pPr>
            <a:r>
              <a:rPr lang="en-US" sz="1600" dirty="0">
                <a:solidFill>
                  <a:schemeClr val="bg2"/>
                </a:solidFill>
              </a:rPr>
              <a:t>debited from the rider</a:t>
            </a:r>
            <a:endParaRPr lang="en-US" sz="1600" dirty="0"/>
          </a:p>
        </p:txBody>
      </p:sp>
      <p:sp>
        <p:nvSpPr>
          <p:cNvPr id="7" name="Text 4"/>
          <p:cNvSpPr txBox="1"/>
          <p:nvPr/>
        </p:nvSpPr>
        <p:spPr>
          <a:xfrm>
            <a:off x="6309360" y="2926080"/>
            <a:ext cx="2377440" cy="914400"/>
          </a:xfrm>
          <a:prstGeom prst="rect">
            <a:avLst/>
          </a:prstGeom>
          <a:noFill/>
          <a:ln/>
        </p:spPr>
        <p:txBody>
          <a:bodyPr wrap="square" lIns="0" tIns="0" rIns="0" bIns="0" rtlCol="0" anchor="ctr"/>
          <a:lstStyle/>
          <a:p>
            <a:pPr marL="0" indent="0">
              <a:buNone/>
            </a:pPr>
            <a:r>
              <a:rPr lang="en-US" sz="5400" b="1" dirty="0">
                <a:solidFill>
                  <a:schemeClr val="accent1"/>
                </a:solidFill>
              </a:rPr>
              <a:t>70%</a:t>
            </a:r>
            <a:endParaRPr lang="en-US" sz="5400" dirty="0"/>
          </a:p>
        </p:txBody>
      </p:sp>
      <p:sp>
        <p:nvSpPr>
          <p:cNvPr id="8" name="Text 5"/>
          <p:cNvSpPr txBox="1"/>
          <p:nvPr/>
        </p:nvSpPr>
        <p:spPr>
          <a:xfrm>
            <a:off x="8778240" y="2926080"/>
            <a:ext cx="2743200" cy="914400"/>
          </a:xfrm>
          <a:prstGeom prst="rect">
            <a:avLst/>
          </a:prstGeom>
          <a:noFill/>
          <a:ln/>
        </p:spPr>
        <p:txBody>
          <a:bodyPr wrap="square" lIns="0" tIns="0" rIns="0" bIns="0" rtlCol="0" anchor="ctr"/>
          <a:lstStyle/>
          <a:p>
            <a:pPr marL="0" indent="0">
              <a:buNone/>
            </a:pPr>
            <a:r>
              <a:rPr lang="en-US" sz="1600" dirty="0">
                <a:solidFill>
                  <a:schemeClr val="bg2"/>
                </a:solidFill>
              </a:rPr>
              <a:t>credited to the driver</a:t>
            </a:r>
            <a:endParaRPr lang="en-US" sz="1600" dirty="0"/>
          </a:p>
        </p:txBody>
      </p:sp>
      <p:sp>
        <p:nvSpPr>
          <p:cNvPr id="9" name="Text 6"/>
          <p:cNvSpPr txBox="1"/>
          <p:nvPr/>
        </p:nvSpPr>
        <p:spPr>
          <a:xfrm>
            <a:off x="6309360" y="4160520"/>
            <a:ext cx="2377440" cy="914400"/>
          </a:xfrm>
          <a:prstGeom prst="rect">
            <a:avLst/>
          </a:prstGeom>
          <a:noFill/>
          <a:ln/>
        </p:spPr>
        <p:txBody>
          <a:bodyPr wrap="square" lIns="0" tIns="0" rIns="0" bIns="0" rtlCol="0" anchor="ctr"/>
          <a:lstStyle/>
          <a:p>
            <a:pPr marL="0" indent="0">
              <a:buNone/>
            </a:pPr>
            <a:r>
              <a:rPr lang="en-US" sz="5400" b="1" dirty="0">
                <a:solidFill>
                  <a:schemeClr val="bg2"/>
                </a:solidFill>
              </a:rPr>
              <a:t>30%</a:t>
            </a:r>
            <a:endParaRPr lang="en-US" sz="5400" dirty="0"/>
          </a:p>
        </p:txBody>
      </p:sp>
      <p:sp>
        <p:nvSpPr>
          <p:cNvPr id="10" name="Text 7"/>
          <p:cNvSpPr txBox="1"/>
          <p:nvPr/>
        </p:nvSpPr>
        <p:spPr>
          <a:xfrm>
            <a:off x="8778240" y="4160520"/>
            <a:ext cx="2743200" cy="914400"/>
          </a:xfrm>
          <a:prstGeom prst="rect">
            <a:avLst/>
          </a:prstGeom>
          <a:noFill/>
          <a:ln/>
        </p:spPr>
        <p:txBody>
          <a:bodyPr wrap="square" lIns="0" tIns="0" rIns="0" bIns="0" rtlCol="0" anchor="ctr"/>
          <a:lstStyle/>
          <a:p>
            <a:pPr marL="0" indent="0">
              <a:buNone/>
            </a:pPr>
            <a:r>
              <a:rPr lang="en-US" sz="1600" dirty="0">
                <a:solidFill>
                  <a:schemeClr val="bg2"/>
                </a:solidFill>
              </a:rPr>
              <a:t>platform commission</a:t>
            </a:r>
            <a:endParaRPr lang="en-US" sz="1600" dirty="0"/>
          </a:p>
        </p:txBody>
      </p:sp>
      <p:sp>
        <p:nvSpPr>
          <p:cNvPr id="11" name="Text 8"/>
          <p:cNvSpPr txBox="1"/>
          <p:nvPr/>
        </p:nvSpPr>
        <p:spPr>
          <a:xfrm>
            <a:off x="6309360" y="5486400"/>
            <a:ext cx="5212080" cy="365760"/>
          </a:xfrm>
          <a:prstGeom prst="rect">
            <a:avLst/>
          </a:prstGeom>
          <a:noFill/>
          <a:ln/>
        </p:spPr>
        <p:txBody>
          <a:bodyPr wrap="square" lIns="0" tIns="0" rIns="0" bIns="0" rtlCol="0" anchor="t"/>
          <a:lstStyle/>
          <a:p>
            <a:pPr marL="0" indent="0">
              <a:buNone/>
            </a:pPr>
            <a:r>
              <a:rPr lang="en-US" sz="1400" dirty="0">
                <a:solidFill>
                  <a:schemeClr val="bg2"/>
                </a:solidFill>
              </a:rPr>
              <a:t>Wallet  ·  Razorpay  ·  Cash  ·  double-entry ledger</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881360" cy="822960"/>
          </a:xfrm>
          <a:prstGeom prst="rect">
            <a:avLst/>
          </a:prstGeom>
          <a:noFill/>
          <a:ln/>
        </p:spPr>
        <p:txBody>
          <a:bodyPr wrap="square" lIns="0" tIns="0" rIns="0" bIns="0" rtlCol="0" anchor="ctr"/>
          <a:lstStyle/>
          <a:p>
            <a:pPr marL="0" indent="0" algn="l">
              <a:buNone/>
            </a:pPr>
            <a:r>
              <a:rPr lang="en-US" sz="3600" b="1" dirty="0">
                <a:solidFill>
                  <a:schemeClr val="bg1"/>
                </a:solidFill>
              </a:rPr>
              <a:t>What we built</a:t>
            </a:r>
            <a:endParaRPr lang="en-US" sz="3600" dirty="0"/>
          </a:p>
        </p:txBody>
      </p:sp>
      <p:sp>
        <p:nvSpPr>
          <p:cNvPr id="3" name="Text 1"/>
          <p:cNvSpPr txBox="1"/>
          <p:nvPr/>
        </p:nvSpPr>
        <p:spPr>
          <a:xfrm>
            <a:off x="640080" y="1600200"/>
            <a:ext cx="3291840" cy="822960"/>
          </a:xfrm>
          <a:prstGeom prst="rect">
            <a:avLst/>
          </a:prstGeom>
          <a:noFill/>
          <a:ln/>
        </p:spPr>
        <p:txBody>
          <a:bodyPr wrap="square" lIns="0" tIns="0" rIns="0" bIns="0" rtlCol="0" anchor="ctr"/>
          <a:lstStyle/>
          <a:p>
            <a:pPr marL="0" indent="0">
              <a:buNone/>
            </a:pPr>
            <a:r>
              <a:rPr lang="en-US" sz="2800" b="1" dirty="0">
                <a:solidFill>
                  <a:schemeClr val="accent1"/>
                </a:solidFill>
              </a:rPr>
              <a:t>Architecture</a:t>
            </a:r>
            <a:endParaRPr lang="en-US" sz="2800" dirty="0"/>
          </a:p>
        </p:txBody>
      </p:sp>
      <p:sp>
        <p:nvSpPr>
          <p:cNvPr id="4" name="Text 2"/>
          <p:cNvSpPr txBox="1"/>
          <p:nvPr/>
        </p:nvSpPr>
        <p:spPr>
          <a:xfrm>
            <a:off x="4206240" y="1600200"/>
            <a:ext cx="7315200" cy="822960"/>
          </a:xfrm>
          <a:prstGeom prst="rect">
            <a:avLst/>
          </a:prstGeom>
          <a:noFill/>
          <a:ln/>
        </p:spPr>
        <p:txBody>
          <a:bodyPr wrap="square" lIns="0" tIns="0" rIns="0" bIns="0" rtlCol="0" anchor="ctr"/>
          <a:lstStyle/>
          <a:p>
            <a:pPr marL="0" indent="0">
              <a:buNone/>
            </a:pPr>
            <a:r>
              <a:rPr lang="en-US" sz="1800" dirty="0">
                <a:solidFill>
                  <a:schemeClr val="bg1"/>
                </a:solidFill>
              </a:rPr>
              <a:t>Seven Spring Cloud services over REST and Kafka</a:t>
            </a:r>
            <a:endParaRPr lang="en-US" sz="1800" dirty="0"/>
          </a:p>
        </p:txBody>
      </p:sp>
      <p:sp>
        <p:nvSpPr>
          <p:cNvPr id="5" name="Shape 3"/>
          <p:cNvSpPr/>
          <p:nvPr/>
        </p:nvSpPr>
        <p:spPr>
          <a:xfrm>
            <a:off x="640080" y="2560320"/>
            <a:ext cx="10881360" cy="0"/>
          </a:xfrm>
          <a:prstGeom prst="line">
            <a:avLst/>
          </a:prstGeom>
          <a:noFill/>
          <a:ln w="12700">
            <a:solidFill>
              <a:schemeClr val="accent2"/>
            </a:solidFill>
            <a:prstDash val="solid"/>
          </a:ln>
        </p:spPr>
      </p:sp>
      <p:sp>
        <p:nvSpPr>
          <p:cNvPr id="6" name="Text 4"/>
          <p:cNvSpPr txBox="1"/>
          <p:nvPr/>
        </p:nvSpPr>
        <p:spPr>
          <a:xfrm>
            <a:off x="640080" y="2697480"/>
            <a:ext cx="3291840" cy="822960"/>
          </a:xfrm>
          <a:prstGeom prst="rect">
            <a:avLst/>
          </a:prstGeom>
          <a:noFill/>
          <a:ln/>
        </p:spPr>
        <p:txBody>
          <a:bodyPr wrap="square" lIns="0" tIns="0" rIns="0" bIns="0" rtlCol="0" anchor="ctr"/>
          <a:lstStyle/>
          <a:p>
            <a:pPr marL="0" indent="0">
              <a:buNone/>
            </a:pPr>
            <a:r>
              <a:rPr lang="en-US" sz="2800" b="1" dirty="0">
                <a:solidFill>
                  <a:schemeClr val="accent1"/>
                </a:solidFill>
              </a:rPr>
              <a:t>Security</a:t>
            </a:r>
            <a:endParaRPr lang="en-US" sz="2800" dirty="0"/>
          </a:p>
        </p:txBody>
      </p:sp>
      <p:sp>
        <p:nvSpPr>
          <p:cNvPr id="7" name="Text 5"/>
          <p:cNvSpPr txBox="1"/>
          <p:nvPr/>
        </p:nvSpPr>
        <p:spPr>
          <a:xfrm>
            <a:off x="4206240" y="2697480"/>
            <a:ext cx="7315200" cy="822960"/>
          </a:xfrm>
          <a:prstGeom prst="rect">
            <a:avLst/>
          </a:prstGeom>
          <a:noFill/>
          <a:ln/>
        </p:spPr>
        <p:txBody>
          <a:bodyPr wrap="square" lIns="0" tIns="0" rIns="0" bIns="0" rtlCol="0" anchor="ctr"/>
          <a:lstStyle/>
          <a:p>
            <a:pPr marL="0" indent="0">
              <a:buNone/>
            </a:pPr>
            <a:r>
              <a:rPr lang="en-US" sz="1800" dirty="0">
                <a:solidFill>
                  <a:schemeClr val="bg1"/>
                </a:solidFill>
              </a:rPr>
              <a:t>JWT checked at the edge, roles for rider, driver and admin</a:t>
            </a:r>
            <a:endParaRPr lang="en-US" sz="1800" dirty="0"/>
          </a:p>
        </p:txBody>
      </p:sp>
      <p:sp>
        <p:nvSpPr>
          <p:cNvPr id="8" name="Shape 6"/>
          <p:cNvSpPr/>
          <p:nvPr/>
        </p:nvSpPr>
        <p:spPr>
          <a:xfrm>
            <a:off x="640080" y="3657600"/>
            <a:ext cx="10881360" cy="0"/>
          </a:xfrm>
          <a:prstGeom prst="line">
            <a:avLst/>
          </a:prstGeom>
          <a:noFill/>
          <a:ln w="12700">
            <a:solidFill>
              <a:schemeClr val="accent2"/>
            </a:solidFill>
            <a:prstDash val="solid"/>
          </a:ln>
        </p:spPr>
      </p:sp>
      <p:sp>
        <p:nvSpPr>
          <p:cNvPr id="9" name="Text 7"/>
          <p:cNvSpPr txBox="1"/>
          <p:nvPr/>
        </p:nvSpPr>
        <p:spPr>
          <a:xfrm>
            <a:off x="640080" y="3794760"/>
            <a:ext cx="3291840" cy="822960"/>
          </a:xfrm>
          <a:prstGeom prst="rect">
            <a:avLst/>
          </a:prstGeom>
          <a:noFill/>
          <a:ln/>
        </p:spPr>
        <p:txBody>
          <a:bodyPr wrap="square" lIns="0" tIns="0" rIns="0" bIns="0" rtlCol="0" anchor="ctr"/>
          <a:lstStyle/>
          <a:p>
            <a:pPr marL="0" indent="0">
              <a:buNone/>
            </a:pPr>
            <a:r>
              <a:rPr lang="en-US" sz="2800" b="1" dirty="0">
                <a:solidFill>
                  <a:schemeClr val="accent1"/>
                </a:solidFill>
              </a:rPr>
              <a:t>Geospatial</a:t>
            </a:r>
            <a:endParaRPr lang="en-US" sz="2800" dirty="0"/>
          </a:p>
        </p:txBody>
      </p:sp>
      <p:sp>
        <p:nvSpPr>
          <p:cNvPr id="10" name="Text 8"/>
          <p:cNvSpPr txBox="1"/>
          <p:nvPr/>
        </p:nvSpPr>
        <p:spPr>
          <a:xfrm>
            <a:off x="4206240" y="3794760"/>
            <a:ext cx="7315200" cy="822960"/>
          </a:xfrm>
          <a:prstGeom prst="rect">
            <a:avLst/>
          </a:prstGeom>
          <a:noFill/>
          <a:ln/>
        </p:spPr>
        <p:txBody>
          <a:bodyPr wrap="square" lIns="0" tIns="0" rIns="0" bIns="0" rtlCol="0" anchor="ctr"/>
          <a:lstStyle/>
          <a:p>
            <a:pPr marL="0" indent="0">
              <a:buNone/>
            </a:pPr>
            <a:r>
              <a:rPr lang="en-US" sz="1800" dirty="0">
                <a:solidFill>
                  <a:schemeClr val="bg1"/>
                </a:solidFill>
              </a:rPr>
              <a:t>OSRM routing with PostGIS proximity search</a:t>
            </a:r>
            <a:endParaRPr lang="en-US" sz="1800" dirty="0"/>
          </a:p>
        </p:txBody>
      </p:sp>
      <p:sp>
        <p:nvSpPr>
          <p:cNvPr id="11" name="Shape 9"/>
          <p:cNvSpPr/>
          <p:nvPr/>
        </p:nvSpPr>
        <p:spPr>
          <a:xfrm>
            <a:off x="640080" y="4754880"/>
            <a:ext cx="10881360" cy="0"/>
          </a:xfrm>
          <a:prstGeom prst="line">
            <a:avLst/>
          </a:prstGeom>
          <a:noFill/>
          <a:ln w="12700">
            <a:solidFill>
              <a:schemeClr val="accent2"/>
            </a:solidFill>
            <a:prstDash val="solid"/>
          </a:ln>
        </p:spPr>
      </p:sp>
      <p:sp>
        <p:nvSpPr>
          <p:cNvPr id="12" name="Text 10"/>
          <p:cNvSpPr txBox="1"/>
          <p:nvPr/>
        </p:nvSpPr>
        <p:spPr>
          <a:xfrm>
            <a:off x="640080" y="4892040"/>
            <a:ext cx="3291840" cy="822960"/>
          </a:xfrm>
          <a:prstGeom prst="rect">
            <a:avLst/>
          </a:prstGeom>
          <a:noFill/>
          <a:ln/>
        </p:spPr>
        <p:txBody>
          <a:bodyPr wrap="square" lIns="0" tIns="0" rIns="0" bIns="0" rtlCol="0" anchor="ctr"/>
          <a:lstStyle/>
          <a:p>
            <a:pPr marL="0" indent="0">
              <a:buNone/>
            </a:pPr>
            <a:r>
              <a:rPr lang="en-US" sz="2800" b="1" dirty="0">
                <a:solidFill>
                  <a:schemeClr val="accent1"/>
                </a:solidFill>
              </a:rPr>
              <a:t>Resilience</a:t>
            </a:r>
            <a:endParaRPr lang="en-US" sz="2800" dirty="0"/>
          </a:p>
        </p:txBody>
      </p:sp>
      <p:sp>
        <p:nvSpPr>
          <p:cNvPr id="13" name="Text 11"/>
          <p:cNvSpPr txBox="1"/>
          <p:nvPr/>
        </p:nvSpPr>
        <p:spPr>
          <a:xfrm>
            <a:off x="4206240" y="4892040"/>
            <a:ext cx="7315200" cy="822960"/>
          </a:xfrm>
          <a:prstGeom prst="rect">
            <a:avLst/>
          </a:prstGeom>
          <a:noFill/>
          <a:ln/>
        </p:spPr>
        <p:txBody>
          <a:bodyPr wrap="square" lIns="0" tIns="0" rIns="0" bIns="0" rtlCol="0" anchor="ctr"/>
          <a:lstStyle/>
          <a:p>
            <a:pPr marL="0" indent="0">
              <a:buNone/>
            </a:pPr>
            <a:r>
              <a:rPr lang="en-US" sz="1800" dirty="0">
                <a:solidFill>
                  <a:schemeClr val="bg1"/>
                </a:solidFill>
              </a:rPr>
              <a:t>Idempotent consumers and graceful fallbacks</a:t>
            </a:r>
            <a:endParaRPr lang="en-US" sz="18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rbit"/>
          <p:cNvSpPr/>
          <p:nvPr/>
        </p:nvSpPr>
        <p:spPr>
          <a:xfrm>
            <a:off x="8412480" y="-1097280"/>
            <a:ext cx="4572000" cy="4572000"/>
          </a:xfrm>
          <a:prstGeom prst="ellipse">
            <a:avLst/>
          </a:prstGeom>
          <a:solidFill>
            <a:schemeClr val="tx1">
              <a:alpha val="0"/>
            </a:schemeClr>
          </a:solidFill>
          <a:ln w="12700">
            <a:solidFill>
              <a:schemeClr val="accent3"/>
            </a:solidFill>
            <a:prstDash val="solid"/>
          </a:ln>
        </p:spPr>
      </p:sp>
      <p:sp>
        <p:nvSpPr>
          <p:cNvPr id="3" name="Core"/>
          <p:cNvSpPr/>
          <p:nvPr/>
        </p:nvSpPr>
        <p:spPr>
          <a:xfrm>
            <a:off x="9601200" y="91440"/>
            <a:ext cx="2194560" cy="2194560"/>
          </a:xfrm>
          <a:prstGeom prst="ellipse">
            <a:avLst/>
          </a:prstGeom>
          <a:solidFill>
            <a:schemeClr val="accent1"/>
          </a:solidFill>
          <a:ln w="12700">
            <a:solidFill>
              <a:schemeClr val="accent1"/>
            </a:solidFill>
            <a:prstDash val="solid"/>
          </a:ln>
        </p:spPr>
      </p:sp>
      <p:sp>
        <p:nvSpPr>
          <p:cNvPr id="4" name="Text 2"/>
          <p:cNvSpPr txBox="1"/>
          <p:nvPr/>
        </p:nvSpPr>
        <p:spPr>
          <a:xfrm>
            <a:off x="640080" y="2377440"/>
            <a:ext cx="9144000" cy="1463040"/>
          </a:xfrm>
          <a:prstGeom prst="rect">
            <a:avLst/>
          </a:prstGeom>
          <a:noFill/>
          <a:ln/>
        </p:spPr>
        <p:txBody>
          <a:bodyPr wrap="square" lIns="0" tIns="0" rIns="0" bIns="0" rtlCol="0" anchor="ctr"/>
          <a:lstStyle/>
          <a:p>
            <a:pPr marL="0" indent="0">
              <a:buNone/>
            </a:pPr>
            <a:r>
              <a:rPr lang="en-US" sz="6600" b="1" dirty="0">
                <a:solidFill>
                  <a:schemeClr val="bg1"/>
                </a:solidFill>
              </a:rPr>
              <a:t>Decoupled by </a:t>
            </a:r>
            <a:r>
              <a:rPr lang="en-US" sz="6600" b="1" dirty="0">
                <a:solidFill>
                  <a:schemeClr val="accent1"/>
                </a:solidFill>
              </a:rPr>
              <a:t>design.</a:t>
            </a:r>
            <a:endParaRPr lang="en-US" sz="6600" dirty="0"/>
          </a:p>
        </p:txBody>
      </p:sp>
      <p:sp>
        <p:nvSpPr>
          <p:cNvPr id="5" name="Text 3"/>
          <p:cNvSpPr txBox="1"/>
          <p:nvPr/>
        </p:nvSpPr>
        <p:spPr>
          <a:xfrm>
            <a:off x="640080" y="4023360"/>
            <a:ext cx="5486400" cy="548640"/>
          </a:xfrm>
          <a:prstGeom prst="rect">
            <a:avLst/>
          </a:prstGeom>
          <a:noFill/>
          <a:ln/>
        </p:spPr>
        <p:txBody>
          <a:bodyPr wrap="square" lIns="0" tIns="0" rIns="0" bIns="0" rtlCol="0" anchor="t"/>
          <a:lstStyle/>
          <a:p>
            <a:pPr marL="0" indent="0">
              <a:buNone/>
            </a:pPr>
            <a:r>
              <a:rPr lang="en-US" sz="2400" dirty="0">
                <a:solidFill>
                  <a:schemeClr val="bg2"/>
                </a:solidFill>
              </a:rPr>
              <a:t>Thank you</a:t>
            </a:r>
            <a:endParaRPr lang="en-US" sz="2400" dirty="0"/>
          </a:p>
        </p:txBody>
      </p:sp>
    </p:spTree>
  </p:cSld>
  <p:clrMapOvr>
    <a:masterClrMapping/>
  </p:clrMapOvr>
</p:sld>
</file>

<file path=ppt/theme/theme1.xml><?xml version="1.0" encoding="utf-8"?>
<a:theme xmlns:a="http://schemas.openxmlformats.org/drawingml/2006/main" name="RideMesh Noir">
  <a:themeElements>
    <a:clrScheme name="RideMesh Noir">
      <a:dk1>
        <a:srgbClr val="0A0A0B"/>
      </a:dk1>
      <a:lt1>
        <a:srgbClr val="FFFFFF"/>
      </a:lt1>
      <a:dk2>
        <a:srgbClr val="1C1C1F"/>
      </a:dk2>
      <a:lt2>
        <a:srgbClr val="A1A1AA"/>
      </a:lt2>
      <a:accent1>
        <a:srgbClr val="FFB020"/>
      </a:accent1>
      <a:accent2>
        <a:srgbClr val="2E2E33"/>
      </a:accent2>
      <a:accent3>
        <a:srgbClr val="52525B"/>
      </a:accent3>
      <a:accent4>
        <a:srgbClr val="3DD6C6"/>
      </a:accent4>
      <a:accent5>
        <a:srgbClr val="71717A"/>
      </a:accent5>
      <a:accent6>
        <a:srgbClr val="D4D4D8"/>
      </a:accent6>
      <a:hlink>
        <a:srgbClr val="FFB020"/>
      </a:hlink>
      <a:folHlink>
        <a:srgbClr val="A1A1AA"/>
      </a:folHlink>
    </a:clrScheme>
    <a:fontScheme name="RideMesh Noi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799</Words>
  <Application>Microsoft Office PowerPoint</Application>
  <PresentationFormat>Widescreen</PresentationFormat>
  <Paragraphs>114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Courier New</vt:lpstr>
      <vt:lpstr>RideMesh Noir</vt:lpstr>
      <vt:lpstr>PowerPoint Presentation</vt:lpstr>
      <vt:lpstr>One failure shouldn't stop every ride</vt:lpstr>
      <vt:lpstr>Everything enters through one gateway</vt:lpstr>
      <vt:lpstr>A ride ends. Three services react.</vt:lpstr>
      <vt:lpstr>Patterns that keep it decoupled</vt:lpstr>
      <vt:lpstr>Real roads. Nearest drivers.</vt:lpstr>
      <vt:lpstr>Every fare, settled automatically</vt:lpstr>
      <vt:lpstr>What we built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RideMesh: Event-Driven Cab-Booking Platform</dc:title>
  <dc:subject>PptxGenJS Presentation</dc:subject>
  <dc:creator>Ritish Kumar, Yog Vasaikar, Sumukh Kanekar</dc:creator>
  <cp:lastModifiedBy>Ritish Kumar</cp:lastModifiedBy>
  <cp:revision>2</cp:revision>
  <dcterms:created xsi:type="dcterms:W3CDTF">2026-10-24T17:07:42Z</dcterms:created>
  <dcterms:modified xsi:type="dcterms:W3CDTF">2026-10-24T17:29:35Z</dcterms:modified>
</cp:coreProperties>
</file>